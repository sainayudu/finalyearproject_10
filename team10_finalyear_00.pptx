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8" r:id="rId3"/>
    <p:sldId id="266" r:id="rId4"/>
    <p:sldId id="259" r:id="rId5"/>
    <p:sldId id="260" r:id="rId6"/>
    <p:sldId id="261" r:id="rId7"/>
    <p:sldId id="262" r:id="rId8"/>
    <p:sldId id="263" r:id="rId9"/>
    <p:sldId id="264" r:id="rId10"/>
    <p:sldId id="267" r:id="rId11"/>
    <p:sldId id="268" r:id="rId12"/>
    <p:sldId id="269"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FFC48A-40A8-4815-BA95-23178E6D29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a:extLst>
              <a:ext uri="{FF2B5EF4-FFF2-40B4-BE49-F238E27FC236}">
                <a16:creationId xmlns:a16="http://schemas.microsoft.com/office/drawing/2014/main" id="{030C60B8-AC82-45A9-82DA-49E3C3D8F3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2AD30-3EB1-44F3-99FC-CA174BE79D9D}" type="datetimeFigureOut">
              <a:rPr lang="en-IN" smtClean="0"/>
              <a:t>03-11-2025</a:t>
            </a:fld>
            <a:endParaRPr lang="en-IN"/>
          </a:p>
        </p:txBody>
      </p:sp>
      <p:sp>
        <p:nvSpPr>
          <p:cNvPr id="4" name="Footer Placeholder 3">
            <a:extLst>
              <a:ext uri="{FF2B5EF4-FFF2-40B4-BE49-F238E27FC236}">
                <a16:creationId xmlns:a16="http://schemas.microsoft.com/office/drawing/2014/main" id="{4B0A9232-31CD-406D-82AE-EA68BC6064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3C2C502-FE3D-48CE-962A-D0C5905217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54DA78-81CE-4CDA-BCDF-F9A71A5A3A2B}" type="slidenum">
              <a:rPr lang="en-IN" smtClean="0"/>
              <a:t>‹#›</a:t>
            </a:fld>
            <a:endParaRPr lang="en-IN"/>
          </a:p>
        </p:txBody>
      </p:sp>
    </p:spTree>
    <p:extLst>
      <p:ext uri="{BB962C8B-B14F-4D97-AF65-F5344CB8AC3E}">
        <p14:creationId xmlns:p14="http://schemas.microsoft.com/office/powerpoint/2010/main" val="1579651629"/>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518E6E-0D61-4A63-AE58-B654B59B306F}"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1FFA8-44D0-41D2-B252-050984594A0C}" type="slidenum">
              <a:rPr lang="en-IN" smtClean="0"/>
              <a:t>‹#›</a:t>
            </a:fld>
            <a:endParaRPr lang="en-IN"/>
          </a:p>
        </p:txBody>
      </p:sp>
    </p:spTree>
    <p:extLst>
      <p:ext uri="{BB962C8B-B14F-4D97-AF65-F5344CB8AC3E}">
        <p14:creationId xmlns:p14="http://schemas.microsoft.com/office/powerpoint/2010/main" val="382749563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AF19C-4D3B-4283-B632-5CFB8FB956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E01616-88CA-4437-B1B8-62F6DEE62A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F3850B-84AC-47FE-8838-BED318289AFF}"/>
              </a:ext>
            </a:extLst>
          </p:cNvPr>
          <p:cNvSpPr>
            <a:spLocks noGrp="1"/>
          </p:cNvSpPr>
          <p:nvPr>
            <p:ph type="dt" sz="half" idx="10"/>
          </p:nvPr>
        </p:nvSpPr>
        <p:spPr/>
        <p:txBody>
          <a:bodyPr/>
          <a:lstStyle/>
          <a:p>
            <a:fld id="{7B4479E0-AE4B-443A-B706-E9336E2A033A}" type="datetime1">
              <a:rPr lang="en-IN" smtClean="0"/>
              <a:t>03-11-2025</a:t>
            </a:fld>
            <a:endParaRPr lang="en-IN"/>
          </a:p>
        </p:txBody>
      </p:sp>
      <p:sp>
        <p:nvSpPr>
          <p:cNvPr id="5" name="Footer Placeholder 4">
            <a:extLst>
              <a:ext uri="{FF2B5EF4-FFF2-40B4-BE49-F238E27FC236}">
                <a16:creationId xmlns:a16="http://schemas.microsoft.com/office/drawing/2014/main" id="{A34EC73D-0A8A-4950-9FD7-487AC00EA584}"/>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F5618BE-0643-45DA-993E-5938F8F8B2D6}"/>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11450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83C3-5D56-47C4-BAAA-0AEE6B039F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05191E-F147-465C-B1BC-F3192025C9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784D21-8E56-4941-93C0-57B67E22C5FD}"/>
              </a:ext>
            </a:extLst>
          </p:cNvPr>
          <p:cNvSpPr>
            <a:spLocks noGrp="1"/>
          </p:cNvSpPr>
          <p:nvPr>
            <p:ph type="dt" sz="half" idx="10"/>
          </p:nvPr>
        </p:nvSpPr>
        <p:spPr/>
        <p:txBody>
          <a:bodyPr/>
          <a:lstStyle/>
          <a:p>
            <a:fld id="{DCD3C179-F1B2-4AC4-B918-797EED3C2BBC}" type="datetime1">
              <a:rPr lang="en-IN" smtClean="0"/>
              <a:t>03-11-2025</a:t>
            </a:fld>
            <a:endParaRPr lang="en-IN"/>
          </a:p>
        </p:txBody>
      </p:sp>
      <p:sp>
        <p:nvSpPr>
          <p:cNvPr id="5" name="Footer Placeholder 4">
            <a:extLst>
              <a:ext uri="{FF2B5EF4-FFF2-40B4-BE49-F238E27FC236}">
                <a16:creationId xmlns:a16="http://schemas.microsoft.com/office/drawing/2014/main" id="{CD79476B-12F5-4CE0-8BED-CC7E02D051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2A82A1D1-2DC0-4EB9-B1C0-3D0A17261884}"/>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2406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3532-2579-487E-A806-FE059BC2E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1D22E9-2061-45FA-973E-DC229F8B3A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E1C65-23E2-4167-B173-FA4734A19564}"/>
              </a:ext>
            </a:extLst>
          </p:cNvPr>
          <p:cNvSpPr>
            <a:spLocks noGrp="1"/>
          </p:cNvSpPr>
          <p:nvPr>
            <p:ph type="dt" sz="half" idx="10"/>
          </p:nvPr>
        </p:nvSpPr>
        <p:spPr/>
        <p:txBody>
          <a:bodyPr/>
          <a:lstStyle/>
          <a:p>
            <a:fld id="{F4F31B55-9E00-4A1A-BBAC-863EF197F6B9}" type="datetime1">
              <a:rPr lang="en-IN" smtClean="0"/>
              <a:t>03-11-2025</a:t>
            </a:fld>
            <a:endParaRPr lang="en-IN"/>
          </a:p>
        </p:txBody>
      </p:sp>
      <p:sp>
        <p:nvSpPr>
          <p:cNvPr id="5" name="Footer Placeholder 4">
            <a:extLst>
              <a:ext uri="{FF2B5EF4-FFF2-40B4-BE49-F238E27FC236}">
                <a16:creationId xmlns:a16="http://schemas.microsoft.com/office/drawing/2014/main" id="{FD3BCE50-78C6-4AF3-8C31-1792D834EE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757E728E-FD97-4282-985C-0A8FA934812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75906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8648D-8839-402E-8EBE-66C675551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9641E8-F7C7-4F72-83E8-E8E8F3A89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211418-08AA-441A-8A66-97EDBEE0A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3319B3-62E9-4A88-A05B-55A69EF5135C}"/>
              </a:ext>
            </a:extLst>
          </p:cNvPr>
          <p:cNvSpPr>
            <a:spLocks noGrp="1"/>
          </p:cNvSpPr>
          <p:nvPr>
            <p:ph type="dt" sz="half" idx="10"/>
          </p:nvPr>
        </p:nvSpPr>
        <p:spPr/>
        <p:txBody>
          <a:bodyPr/>
          <a:lstStyle/>
          <a:p>
            <a:fld id="{F2EBF340-A21F-4D97-85F1-0DFB22960BCF}" type="datetime1">
              <a:rPr lang="en-IN" smtClean="0"/>
              <a:t>03-11-2025</a:t>
            </a:fld>
            <a:endParaRPr lang="en-IN"/>
          </a:p>
        </p:txBody>
      </p:sp>
      <p:sp>
        <p:nvSpPr>
          <p:cNvPr id="6" name="Footer Placeholder 5">
            <a:extLst>
              <a:ext uri="{FF2B5EF4-FFF2-40B4-BE49-F238E27FC236}">
                <a16:creationId xmlns:a16="http://schemas.microsoft.com/office/drawing/2014/main" id="{5ABF91A1-5E44-452F-A78A-FBA5E47F43F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CEF1FC47-031D-4E2A-B90F-BE2FE414202B}"/>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85720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A536-4AE1-4490-9878-471FF125AA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16612D-5A89-4E9A-90B8-BF7FFA8A8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0DF513-E926-411D-8D2B-8831CD3096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BBC415-A031-49A9-9DAD-F150409D1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F0D390-93EF-4E83-9F5B-91286149D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8EC721-76DC-43AF-96DF-A0EE7072BAEC}"/>
              </a:ext>
            </a:extLst>
          </p:cNvPr>
          <p:cNvSpPr>
            <a:spLocks noGrp="1"/>
          </p:cNvSpPr>
          <p:nvPr>
            <p:ph type="dt" sz="half" idx="10"/>
          </p:nvPr>
        </p:nvSpPr>
        <p:spPr/>
        <p:txBody>
          <a:bodyPr/>
          <a:lstStyle/>
          <a:p>
            <a:fld id="{291E6A22-C21D-42F5-A451-C3B1D54F9ACD}" type="datetime1">
              <a:rPr lang="en-IN" smtClean="0"/>
              <a:t>03-11-2025</a:t>
            </a:fld>
            <a:endParaRPr lang="en-IN"/>
          </a:p>
        </p:txBody>
      </p:sp>
      <p:sp>
        <p:nvSpPr>
          <p:cNvPr id="8" name="Footer Placeholder 7">
            <a:extLst>
              <a:ext uri="{FF2B5EF4-FFF2-40B4-BE49-F238E27FC236}">
                <a16:creationId xmlns:a16="http://schemas.microsoft.com/office/drawing/2014/main" id="{DCB44597-18DE-4775-8FB6-A97F0DA48910}"/>
              </a:ext>
            </a:extLst>
          </p:cNvPr>
          <p:cNvSpPr>
            <a:spLocks noGrp="1"/>
          </p:cNvSpPr>
          <p:nvPr>
            <p:ph type="ftr" sz="quarter" idx="11"/>
          </p:nvPr>
        </p:nvSpPr>
        <p:spPr/>
        <p:txBody>
          <a:bodyPr/>
          <a:lstStyle/>
          <a:p>
            <a:r>
              <a:rPr lang="en-IN"/>
              <a:t>ICICC-2021</a:t>
            </a:r>
          </a:p>
        </p:txBody>
      </p:sp>
      <p:sp>
        <p:nvSpPr>
          <p:cNvPr id="9" name="Slide Number Placeholder 8">
            <a:extLst>
              <a:ext uri="{FF2B5EF4-FFF2-40B4-BE49-F238E27FC236}">
                <a16:creationId xmlns:a16="http://schemas.microsoft.com/office/drawing/2014/main" id="{2CC72141-DE0D-4AEB-B511-CB9B54FD6F3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52167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12DF-0ED8-4277-B395-2A4F842B7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0E3D8E-0ABE-4734-98F8-D36BD9940E0A}"/>
              </a:ext>
            </a:extLst>
          </p:cNvPr>
          <p:cNvSpPr>
            <a:spLocks noGrp="1"/>
          </p:cNvSpPr>
          <p:nvPr>
            <p:ph type="dt" sz="half" idx="10"/>
          </p:nvPr>
        </p:nvSpPr>
        <p:spPr/>
        <p:txBody>
          <a:bodyPr/>
          <a:lstStyle/>
          <a:p>
            <a:fld id="{40EF2A80-8EEB-43B2-B954-2445775909FC}" type="datetime1">
              <a:rPr lang="en-IN" smtClean="0"/>
              <a:t>03-11-2025</a:t>
            </a:fld>
            <a:endParaRPr lang="en-IN"/>
          </a:p>
        </p:txBody>
      </p:sp>
      <p:sp>
        <p:nvSpPr>
          <p:cNvPr id="4" name="Footer Placeholder 3">
            <a:extLst>
              <a:ext uri="{FF2B5EF4-FFF2-40B4-BE49-F238E27FC236}">
                <a16:creationId xmlns:a16="http://schemas.microsoft.com/office/drawing/2014/main" id="{510561F1-B38C-461E-85F3-2481751D02A6}"/>
              </a:ext>
            </a:extLst>
          </p:cNvPr>
          <p:cNvSpPr>
            <a:spLocks noGrp="1"/>
          </p:cNvSpPr>
          <p:nvPr>
            <p:ph type="ftr" sz="quarter" idx="11"/>
          </p:nvPr>
        </p:nvSpPr>
        <p:spPr/>
        <p:txBody>
          <a:bodyPr/>
          <a:lstStyle/>
          <a:p>
            <a:r>
              <a:rPr lang="en-IN"/>
              <a:t>ICICC-2021</a:t>
            </a:r>
          </a:p>
        </p:txBody>
      </p:sp>
      <p:sp>
        <p:nvSpPr>
          <p:cNvPr id="5" name="Slide Number Placeholder 4">
            <a:extLst>
              <a:ext uri="{FF2B5EF4-FFF2-40B4-BE49-F238E27FC236}">
                <a16:creationId xmlns:a16="http://schemas.microsoft.com/office/drawing/2014/main" id="{2E712915-E4FE-415C-9D69-B845A7D83F48}"/>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4736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22E84-AD5B-465F-98D4-488F871AAF00}"/>
              </a:ext>
            </a:extLst>
          </p:cNvPr>
          <p:cNvSpPr>
            <a:spLocks noGrp="1"/>
          </p:cNvSpPr>
          <p:nvPr>
            <p:ph type="dt" sz="half" idx="10"/>
          </p:nvPr>
        </p:nvSpPr>
        <p:spPr/>
        <p:txBody>
          <a:bodyPr/>
          <a:lstStyle/>
          <a:p>
            <a:fld id="{F5566693-10B5-4C2E-88F6-1EF5588C2197}" type="datetime1">
              <a:rPr lang="en-IN" smtClean="0"/>
              <a:t>03-11-2025</a:t>
            </a:fld>
            <a:endParaRPr lang="en-IN"/>
          </a:p>
        </p:txBody>
      </p:sp>
      <p:sp>
        <p:nvSpPr>
          <p:cNvPr id="3" name="Footer Placeholder 2">
            <a:extLst>
              <a:ext uri="{FF2B5EF4-FFF2-40B4-BE49-F238E27FC236}">
                <a16:creationId xmlns:a16="http://schemas.microsoft.com/office/drawing/2014/main" id="{1886C86A-862E-4B6A-B263-B01DE6A5BC64}"/>
              </a:ext>
            </a:extLst>
          </p:cNvPr>
          <p:cNvSpPr>
            <a:spLocks noGrp="1"/>
          </p:cNvSpPr>
          <p:nvPr>
            <p:ph type="ftr" sz="quarter" idx="11"/>
          </p:nvPr>
        </p:nvSpPr>
        <p:spPr/>
        <p:txBody>
          <a:bodyPr/>
          <a:lstStyle/>
          <a:p>
            <a:r>
              <a:rPr lang="en-IN"/>
              <a:t>ICICC-2021</a:t>
            </a:r>
          </a:p>
        </p:txBody>
      </p:sp>
      <p:sp>
        <p:nvSpPr>
          <p:cNvPr id="4" name="Slide Number Placeholder 3">
            <a:extLst>
              <a:ext uri="{FF2B5EF4-FFF2-40B4-BE49-F238E27FC236}">
                <a16:creationId xmlns:a16="http://schemas.microsoft.com/office/drawing/2014/main" id="{A62333FC-1B71-4E52-BF49-4D36D092009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60383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CCDE-35D4-412E-AFAB-C219873FE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7E1492-B8B6-4708-A8C8-A138B06333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300379-D005-4BAC-B925-C132043087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B0578-F2D9-4D73-83B2-F23670EBE97A}"/>
              </a:ext>
            </a:extLst>
          </p:cNvPr>
          <p:cNvSpPr>
            <a:spLocks noGrp="1"/>
          </p:cNvSpPr>
          <p:nvPr>
            <p:ph type="dt" sz="half" idx="10"/>
          </p:nvPr>
        </p:nvSpPr>
        <p:spPr/>
        <p:txBody>
          <a:bodyPr/>
          <a:lstStyle/>
          <a:p>
            <a:fld id="{0B3F409E-ABE5-44AA-B093-FDB870F5DE32}" type="datetime1">
              <a:rPr lang="en-IN" smtClean="0"/>
              <a:t>03-11-2025</a:t>
            </a:fld>
            <a:endParaRPr lang="en-IN"/>
          </a:p>
        </p:txBody>
      </p:sp>
      <p:sp>
        <p:nvSpPr>
          <p:cNvPr id="6" name="Footer Placeholder 5">
            <a:extLst>
              <a:ext uri="{FF2B5EF4-FFF2-40B4-BE49-F238E27FC236}">
                <a16:creationId xmlns:a16="http://schemas.microsoft.com/office/drawing/2014/main" id="{C24F134B-4FB5-46E9-8513-DB4C9B2EE88F}"/>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F0EE61B3-BD8A-43AB-BB10-5B53A90AD79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9417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223D-FF11-4AE7-973E-C90327524F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DF81C-EE9D-4D7F-A967-067231447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53EF43-9D88-4586-A760-098C1475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BD912-76F0-4805-9E0D-7C09F249E8E9}"/>
              </a:ext>
            </a:extLst>
          </p:cNvPr>
          <p:cNvSpPr>
            <a:spLocks noGrp="1"/>
          </p:cNvSpPr>
          <p:nvPr>
            <p:ph type="dt" sz="half" idx="10"/>
          </p:nvPr>
        </p:nvSpPr>
        <p:spPr/>
        <p:txBody>
          <a:bodyPr/>
          <a:lstStyle/>
          <a:p>
            <a:fld id="{E116C6B4-82D6-4D23-BAFE-D8055255E829}" type="datetime1">
              <a:rPr lang="en-IN" smtClean="0"/>
              <a:t>03-11-2025</a:t>
            </a:fld>
            <a:endParaRPr lang="en-IN"/>
          </a:p>
        </p:txBody>
      </p:sp>
      <p:sp>
        <p:nvSpPr>
          <p:cNvPr id="6" name="Footer Placeholder 5">
            <a:extLst>
              <a:ext uri="{FF2B5EF4-FFF2-40B4-BE49-F238E27FC236}">
                <a16:creationId xmlns:a16="http://schemas.microsoft.com/office/drawing/2014/main" id="{BA50FEFC-E6F0-4221-8F91-DEE76671F22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770A78C8-FCAB-43A2-9CE6-A2768B5DABF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8263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5A84-E335-48CC-A676-05D91F6A70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60F8BF-FFBC-41F7-B2B0-2CF3804EE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65955D-CA90-44D7-BF8E-BC38A3F36D97}"/>
              </a:ext>
            </a:extLst>
          </p:cNvPr>
          <p:cNvSpPr>
            <a:spLocks noGrp="1"/>
          </p:cNvSpPr>
          <p:nvPr>
            <p:ph type="dt" sz="half" idx="10"/>
          </p:nvPr>
        </p:nvSpPr>
        <p:spPr/>
        <p:txBody>
          <a:bodyPr/>
          <a:lstStyle/>
          <a:p>
            <a:fld id="{36A61C40-9A28-4915-87D9-F21430F4582D}" type="datetime1">
              <a:rPr lang="en-IN" smtClean="0"/>
              <a:t>03-11-2025</a:t>
            </a:fld>
            <a:endParaRPr lang="en-IN"/>
          </a:p>
        </p:txBody>
      </p:sp>
      <p:sp>
        <p:nvSpPr>
          <p:cNvPr id="5" name="Footer Placeholder 4">
            <a:extLst>
              <a:ext uri="{FF2B5EF4-FFF2-40B4-BE49-F238E27FC236}">
                <a16:creationId xmlns:a16="http://schemas.microsoft.com/office/drawing/2014/main" id="{870CB078-D83E-4166-A02C-B6B163DA9360}"/>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CF2FEF6-C837-419F-8835-DC22EF83E19E}"/>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27120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401E9-8805-42DB-AC72-2AE0FF03F7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EB009-1E61-4516-B850-2D2767C6B6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DE6585-E3B2-43BE-AAE1-443822B2FC44}"/>
              </a:ext>
            </a:extLst>
          </p:cNvPr>
          <p:cNvSpPr>
            <a:spLocks noGrp="1"/>
          </p:cNvSpPr>
          <p:nvPr>
            <p:ph type="dt" sz="half" idx="10"/>
          </p:nvPr>
        </p:nvSpPr>
        <p:spPr/>
        <p:txBody>
          <a:bodyPr/>
          <a:lstStyle/>
          <a:p>
            <a:fld id="{93774F61-A72D-47AB-B4C3-4F43AD0A32CC}" type="datetime1">
              <a:rPr lang="en-IN" smtClean="0"/>
              <a:t>03-11-2025</a:t>
            </a:fld>
            <a:endParaRPr lang="en-IN"/>
          </a:p>
        </p:txBody>
      </p:sp>
      <p:sp>
        <p:nvSpPr>
          <p:cNvPr id="5" name="Footer Placeholder 4">
            <a:extLst>
              <a:ext uri="{FF2B5EF4-FFF2-40B4-BE49-F238E27FC236}">
                <a16:creationId xmlns:a16="http://schemas.microsoft.com/office/drawing/2014/main" id="{788DC36A-90BB-45C6-86EC-EF77DE5E67FC}"/>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95E6A805-3800-4CB1-9ADA-94754454EBC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74983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EB43A-BD9E-4874-BFFB-60C4AC61A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76C3F-335A-4DB7-9751-C78105CE3F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7C449-54C2-463E-BDDF-5F5299CBA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D91507-B170-49D3-AC27-6346FE1BA60C}" type="datetime1">
              <a:rPr lang="en-IN" smtClean="0"/>
              <a:t>03-11-2025</a:t>
            </a:fld>
            <a:endParaRPr lang="en-IN"/>
          </a:p>
        </p:txBody>
      </p:sp>
      <p:sp>
        <p:nvSpPr>
          <p:cNvPr id="5" name="Footer Placeholder 4">
            <a:extLst>
              <a:ext uri="{FF2B5EF4-FFF2-40B4-BE49-F238E27FC236}">
                <a16:creationId xmlns:a16="http://schemas.microsoft.com/office/drawing/2014/main" id="{E9337EE8-8318-4653-A49C-0E3AAA3CE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ICICC-2021</a:t>
            </a:r>
          </a:p>
        </p:txBody>
      </p:sp>
      <p:sp>
        <p:nvSpPr>
          <p:cNvPr id="6" name="Slide Number Placeholder 5">
            <a:extLst>
              <a:ext uri="{FF2B5EF4-FFF2-40B4-BE49-F238E27FC236}">
                <a16:creationId xmlns:a16="http://schemas.microsoft.com/office/drawing/2014/main" id="{B85FA26E-3201-463F-ACF3-CBF98D3B2E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47CD7D-2DE7-4E97-993E-733569484B37}" type="slidenum">
              <a:rPr lang="en-IN" smtClean="0"/>
              <a:t>‹#›</a:t>
            </a:fld>
            <a:endParaRPr lang="en-IN"/>
          </a:p>
        </p:txBody>
      </p:sp>
    </p:spTree>
    <p:extLst>
      <p:ext uri="{BB962C8B-B14F-4D97-AF65-F5344CB8AC3E}">
        <p14:creationId xmlns:p14="http://schemas.microsoft.com/office/powerpoint/2010/main" val="787771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hyperlink" Target="https://c2pa.org/specifications/specifications/1.4/explainer/Explainer.html?utm_source=chatgpt.com" TargetMode="External"/><Relationship Id="rId3" Type="http://schemas.openxmlformats.org/officeDocument/2006/relationships/hyperlink" Target="https://journal.esrgroups.org/jes/article/view/9116?utm_source=chatgpt.com" TargetMode="External"/><Relationship Id="rId7" Type="http://schemas.openxmlformats.org/officeDocument/2006/relationships/hyperlink" Target="https://www.dipankar.cc/publication/decentralized-deepfake-detection/?utm_source=chatgpt.com" TargetMode="External"/><Relationship Id="rId2" Type="http://schemas.openxmlformats.org/officeDocument/2006/relationships/hyperlink" Target="https://link.springer.com/article/10.1007/s12559-024-10255-7?utm_source=chatgpt.com" TargetMode="External"/><Relationship Id="rId1" Type="http://schemas.openxmlformats.org/officeDocument/2006/relationships/slideLayout" Target="../slideLayouts/slideLayout1.xml"/><Relationship Id="rId6" Type="http://schemas.openxmlformats.org/officeDocument/2006/relationships/hyperlink" Target="https://www.ijetaa.com/article/view/131?utm_source=chatgpt.com" TargetMode="External"/><Relationship Id="rId5" Type="http://schemas.openxmlformats.org/officeDocument/2006/relationships/hyperlink" Target="https://www.mdpi.com/2076-3417/13/4/2122?utm_source=chatgpt.com" TargetMode="External"/><Relationship Id="rId4" Type="http://schemas.openxmlformats.org/officeDocument/2006/relationships/hyperlink" Target="https://www.mdpi.com/2313-433X/9/1/18?utm_source=chatgpt.com" TargetMode="External"/><Relationship Id="rId9" Type="http://schemas.openxmlformats.org/officeDocument/2006/relationships/hyperlink" Target="https://nabpilot.org/product/fighting-misinformation-with-authenticated-c2pa-provenance-metadata/?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174594" y="1498923"/>
            <a:ext cx="11842810" cy="4625069"/>
          </a:xfrm>
        </p:spPr>
        <p:txBody>
          <a:bodyPr/>
          <a:lstStyle/>
          <a:p>
            <a:endParaRPr lang="en-IN" sz="1400" dirty="0">
              <a:latin typeface="Comic Sans MS" panose="030F0702030302020204" pitchFamily="66" charset="0"/>
            </a:endParaRPr>
          </a:p>
          <a:p>
            <a:r>
              <a:rPr lang="en-US" sz="3200" b="1" dirty="0"/>
              <a:t>                                                                                                                   Blockchain-Based AI Framework for Verification of Real and </a:t>
            </a:r>
          </a:p>
          <a:p>
            <a:r>
              <a:rPr lang="en-US" sz="3200" b="1" dirty="0"/>
              <a:t>AI-Generated Media</a:t>
            </a:r>
            <a:endParaRPr lang="en-IN" sz="3200" b="1" dirty="0">
              <a:latin typeface="Times New Roman" panose="02020603050405020304" pitchFamily="18" charset="0"/>
              <a:cs typeface="Times New Roman" panose="02020603050405020304" pitchFamily="18" charset="0"/>
            </a:endParaRPr>
          </a:p>
          <a:p>
            <a:endParaRPr lang="en-IN" sz="1400" b="1" dirty="0">
              <a:latin typeface="Comic Sans MS" panose="030F0702030302020204" pitchFamily="66" charset="0"/>
            </a:endParaRPr>
          </a:p>
          <a:p>
            <a:endParaRPr lang="en-IN" sz="1800" b="1" dirty="0">
              <a:latin typeface="Comic Sans MS" panose="030F0702030302020204" pitchFamily="66" charset="0"/>
            </a:endParaRPr>
          </a:p>
          <a:p>
            <a:endParaRPr lang="en-IN" sz="1800" b="1" dirty="0">
              <a:latin typeface="Comic Sans MS" panose="030F0702030302020204" pitchFamily="66" charset="0"/>
            </a:endParaRPr>
          </a:p>
          <a:p>
            <a:endParaRPr lang="en-IN" sz="3200" dirty="0">
              <a:latin typeface="Comic Sans MS" panose="030F0702030302020204" pitchFamily="66" charset="0"/>
            </a:endParaRPr>
          </a:p>
          <a:p>
            <a:endParaRPr lang="en-IN" sz="1800" dirty="0">
              <a:latin typeface="Comic Sans MS" panose="030F0702030302020204" pitchFamily="66" charset="0"/>
            </a:endParaRPr>
          </a:p>
          <a:p>
            <a:endParaRPr lang="en-IN" sz="1800" dirty="0">
              <a:latin typeface="Comic Sans MS" panose="030F0702030302020204" pitchFamily="66" charset="0"/>
            </a:endParaRPr>
          </a:p>
          <a:p>
            <a:endParaRPr lang="en-IN" sz="1400" dirty="0">
              <a:latin typeface="Comic Sans MS" panose="030F0702030302020204" pitchFamily="66" charset="0"/>
            </a:endParaRPr>
          </a:p>
        </p:txBody>
      </p:sp>
      <p:sp>
        <p:nvSpPr>
          <p:cNvPr id="5" name="TextBox 4">
            <a:extLst>
              <a:ext uri="{FF2B5EF4-FFF2-40B4-BE49-F238E27FC236}">
                <a16:creationId xmlns:a16="http://schemas.microsoft.com/office/drawing/2014/main" id="{ECBFBF4D-9700-E465-9346-B4330DFF6956}"/>
              </a:ext>
            </a:extLst>
          </p:cNvPr>
          <p:cNvSpPr txBox="1"/>
          <p:nvPr/>
        </p:nvSpPr>
        <p:spPr>
          <a:xfrm>
            <a:off x="2671316" y="-203185"/>
            <a:ext cx="6429466" cy="1569660"/>
          </a:xfrm>
          <a:prstGeom prst="rect">
            <a:avLst/>
          </a:prstGeom>
          <a:noFill/>
        </p:spPr>
        <p:txBody>
          <a:bodyPr wrap="square" rtlCol="0">
            <a:spAutoFit/>
          </a:bodyPr>
          <a:lstStyle/>
          <a:p>
            <a:pPr algn="ctr"/>
            <a:endParaRPr lang="en-IN" sz="2400" b="1" dirty="0">
              <a:solidFill>
                <a:srgbClr val="0070C0"/>
              </a:solidFill>
            </a:endParaRPr>
          </a:p>
          <a:p>
            <a:pPr algn="ctr"/>
            <a:endParaRPr lang="en-IN" sz="2400" b="1" dirty="0">
              <a:solidFill>
                <a:srgbClr val="0070C0"/>
              </a:solidFill>
            </a:endParaRPr>
          </a:p>
          <a:p>
            <a:pPr algn="ctr"/>
            <a:endParaRPr lang="en-IN" sz="2400" b="1" dirty="0">
              <a:solidFill>
                <a:srgbClr val="0070C0"/>
              </a:solidFill>
            </a:endParaRPr>
          </a:p>
          <a:p>
            <a:pPr algn="ctr"/>
            <a:r>
              <a:rPr lang="en-IN" sz="2400" b="1" dirty="0">
                <a:solidFill>
                  <a:srgbClr val="0070C0"/>
                </a:solidFill>
              </a:rPr>
              <a:t>Review-0</a:t>
            </a:r>
          </a:p>
        </p:txBody>
      </p:sp>
      <p:pic>
        <p:nvPicPr>
          <p:cNvPr id="2" name="image5.jpeg">
            <a:extLst>
              <a:ext uri="{FF2B5EF4-FFF2-40B4-BE49-F238E27FC236}">
                <a16:creationId xmlns:a16="http://schemas.microsoft.com/office/drawing/2014/main" id="{5E42BB2B-4852-DADE-44C4-6B6A53357E32}"/>
              </a:ext>
            </a:extLst>
          </p:cNvPr>
          <p:cNvPicPr>
            <a:picLocks noChangeAspect="1"/>
          </p:cNvPicPr>
          <p:nvPr/>
        </p:nvPicPr>
        <p:blipFill>
          <a:blip r:embed="rId2" cstate="print"/>
          <a:stretch>
            <a:fillRect/>
          </a:stretch>
        </p:blipFill>
        <p:spPr>
          <a:xfrm>
            <a:off x="2881267" y="66996"/>
            <a:ext cx="6429465" cy="897296"/>
          </a:xfrm>
          <a:prstGeom prst="rect">
            <a:avLst/>
          </a:prstGeom>
        </p:spPr>
      </p:pic>
      <p:sp>
        <p:nvSpPr>
          <p:cNvPr id="4" name="Subtitle 2">
            <a:extLst>
              <a:ext uri="{FF2B5EF4-FFF2-40B4-BE49-F238E27FC236}">
                <a16:creationId xmlns:a16="http://schemas.microsoft.com/office/drawing/2014/main" id="{711B51E8-FAB1-F561-0061-B4999421BB9C}"/>
              </a:ext>
            </a:extLst>
          </p:cNvPr>
          <p:cNvSpPr txBox="1">
            <a:spLocks/>
          </p:cNvSpPr>
          <p:nvPr/>
        </p:nvSpPr>
        <p:spPr>
          <a:xfrm>
            <a:off x="1039763" y="3601259"/>
            <a:ext cx="10140427" cy="279954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600" dirty="0">
              <a:latin typeface="Times New Roman" panose="02020603050405020304" pitchFamily="18" charset="0"/>
              <a:cs typeface="Times New Roman" panose="02020603050405020304" pitchFamily="18" charset="0"/>
            </a:endParaRPr>
          </a:p>
          <a:p>
            <a:pPr algn="l"/>
            <a:r>
              <a:rPr lang="en-US" sz="1800" dirty="0">
                <a:latin typeface="Times New Roman" panose="02020603050405020304" pitchFamily="18" charset="0"/>
                <a:cs typeface="Times New Roman" panose="02020603050405020304" pitchFamily="18" charset="0"/>
              </a:rPr>
              <a:t>Submitted by</a:t>
            </a:r>
            <a:r>
              <a:rPr lang="en-US" sz="16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Hanumantha</a:t>
            </a:r>
            <a:r>
              <a:rPr lang="en-US" sz="2000" dirty="0">
                <a:latin typeface="Times New Roman" panose="02020603050405020304" pitchFamily="18" charset="0"/>
                <a:cs typeface="Times New Roman" panose="02020603050405020304" pitchFamily="18" charset="0"/>
              </a:rPr>
              <a:t> Rao </a:t>
            </a:r>
          </a:p>
          <a:p>
            <a:pPr algn="l"/>
            <a:r>
              <a:rPr lang="en-US" sz="1800" dirty="0">
                <a:latin typeface="Times New Roman" panose="02020603050405020304" pitchFamily="18" charset="0"/>
                <a:cs typeface="Times New Roman" panose="02020603050405020304" pitchFamily="18" charset="0"/>
              </a:rPr>
              <a:t>Busi Jitya - 22MH1A05G2</a:t>
            </a:r>
          </a:p>
          <a:p>
            <a:pPr algn="l"/>
            <a:r>
              <a:rPr lang="en-US" sz="1800" dirty="0" err="1">
                <a:latin typeface="Times New Roman" panose="02020603050405020304" pitchFamily="18" charset="0"/>
                <a:cs typeface="Times New Roman" panose="02020603050405020304" pitchFamily="18" charset="0"/>
              </a:rPr>
              <a:t>Dommeti</a:t>
            </a:r>
            <a:r>
              <a:rPr lang="en-US" sz="1800" dirty="0">
                <a:latin typeface="Times New Roman" panose="02020603050405020304" pitchFamily="18" charset="0"/>
                <a:cs typeface="Times New Roman" panose="02020603050405020304" pitchFamily="18" charset="0"/>
              </a:rPr>
              <a:t> Navya Sri - 22MH1A05L9</a:t>
            </a:r>
          </a:p>
          <a:p>
            <a:pPr algn="l"/>
            <a:r>
              <a:rPr lang="en-US" sz="1800" dirty="0">
                <a:latin typeface="Times New Roman" panose="02020603050405020304" pitchFamily="18" charset="0"/>
                <a:cs typeface="Times New Roman" panose="02020603050405020304" pitchFamily="18" charset="0"/>
              </a:rPr>
              <a:t>Nayudu Sarat Sai Kumar - 22MH1A05K0</a:t>
            </a:r>
          </a:p>
          <a:p>
            <a:pPr algn="l"/>
            <a:r>
              <a:rPr lang="en-US" sz="1800" dirty="0">
                <a:latin typeface="Times New Roman" panose="02020603050405020304" pitchFamily="18" charset="0"/>
                <a:cs typeface="Times New Roman" panose="02020603050405020304" pitchFamily="18" charset="0"/>
              </a:rPr>
              <a:t>Kona Gangadhar – 22MH1A05K0                     </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812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829559" y="1272619"/>
            <a:ext cx="10492033" cy="4732255"/>
          </a:xfrm>
        </p:spPr>
        <p:txBody>
          <a:bodyPr>
            <a:normAutofit lnSpcReduction="10000"/>
          </a:bodyPr>
          <a:lstStyle/>
          <a:p>
            <a:pPr algn="l"/>
            <a:r>
              <a:rPr lang="en-IN" sz="2800" b="1" dirty="0">
                <a:latin typeface="Times New Roman" panose="02020603050405020304" pitchFamily="18" charset="0"/>
                <a:cs typeface="Times New Roman" panose="02020603050405020304" pitchFamily="18" charset="0"/>
              </a:rPr>
              <a:t>INDEX</a:t>
            </a:r>
          </a:p>
          <a:p>
            <a:pPr marL="457200" indent="-457200" algn="l">
              <a:buAutoNum type="arabicPeriod"/>
            </a:pPr>
            <a:r>
              <a:rPr lang="en-IN" sz="2000" b="1" dirty="0">
                <a:latin typeface="Times New Roman" panose="02020603050405020304" pitchFamily="18" charset="0"/>
                <a:cs typeface="Times New Roman" panose="02020603050405020304" pitchFamily="18" charset="0"/>
              </a:rPr>
              <a:t>ABSTRACT</a:t>
            </a:r>
            <a:endParaRPr lang="en-US" sz="2000" dirty="0"/>
          </a:p>
          <a:p>
            <a:pPr marL="457200" indent="-457200" algn="l">
              <a:buFont typeface="Arial" panose="020B0604020202020204" pitchFamily="34" charset="0"/>
              <a:buAutoNum type="arabicPeriod"/>
            </a:pPr>
            <a:r>
              <a:rPr lang="en-IN" sz="2000" b="1" dirty="0">
                <a:latin typeface="Times New Roman" panose="02020603050405020304" pitchFamily="18" charset="0"/>
                <a:cs typeface="Times New Roman" panose="02020603050405020304" pitchFamily="18" charset="0"/>
              </a:rPr>
              <a:t>INTRODUCTION</a:t>
            </a:r>
          </a:p>
          <a:p>
            <a:pPr marL="457200" indent="-457200" algn="l">
              <a:buFont typeface="Arial" panose="020B0604020202020204" pitchFamily="34" charset="0"/>
              <a:buAutoNum type="arabicPeriod"/>
            </a:pPr>
            <a:r>
              <a:rPr lang="en-IN" sz="2000" b="1" dirty="0">
                <a:latin typeface="Times New Roman" panose="02020603050405020304" pitchFamily="18" charset="0"/>
                <a:cs typeface="Times New Roman" panose="02020603050405020304" pitchFamily="18" charset="0"/>
              </a:rPr>
              <a:t>OBJECTIVES </a:t>
            </a:r>
          </a:p>
          <a:p>
            <a:pPr marL="457200" indent="-457200" algn="l">
              <a:buFont typeface="Arial" panose="020B0604020202020204" pitchFamily="34" charset="0"/>
              <a:buAutoNum type="arabicPeriod"/>
            </a:pPr>
            <a:r>
              <a:rPr lang="en-IN" sz="2000" b="1" dirty="0">
                <a:latin typeface="Times New Roman" panose="02020603050405020304" pitchFamily="18" charset="0"/>
                <a:cs typeface="Times New Roman" panose="02020603050405020304" pitchFamily="18" charset="0"/>
              </a:rPr>
              <a:t>EXISTED SYSTEM </a:t>
            </a:r>
          </a:p>
          <a:p>
            <a:pPr marL="457200" indent="-457200" algn="l">
              <a:buAutoNum type="arabicPeriod" startAt="5"/>
            </a:pPr>
            <a:r>
              <a:rPr lang="en-IN" sz="2000" b="1" dirty="0">
                <a:latin typeface="Times New Roman" panose="02020603050405020304" pitchFamily="18" charset="0"/>
                <a:cs typeface="Times New Roman" panose="02020603050405020304" pitchFamily="18" charset="0"/>
              </a:rPr>
              <a:t>PROPOSED SYSTEM</a:t>
            </a:r>
          </a:p>
          <a:p>
            <a:pPr marL="457200" indent="-457200" algn="l">
              <a:buAutoNum type="arabicPeriod" startAt="5"/>
            </a:pPr>
            <a:r>
              <a:rPr lang="en-US" sz="2000" b="1" dirty="0">
                <a:latin typeface="Times New Roman" panose="02020603050405020304" pitchFamily="18" charset="0"/>
                <a:cs typeface="Times New Roman" panose="02020603050405020304" pitchFamily="18" charset="0"/>
              </a:rPr>
              <a:t>COMPARATIVE TABLE: EXISTING VS PROPOSED SYSTEMS</a:t>
            </a:r>
          </a:p>
          <a:p>
            <a:pPr marL="457200" indent="-457200" algn="l">
              <a:buAutoNum type="arabicPeriod" startAt="5"/>
            </a:pPr>
            <a:r>
              <a:rPr lang="en-IN" sz="2000" b="1" dirty="0">
                <a:latin typeface="Times New Roman" panose="02020603050405020304" pitchFamily="18" charset="0"/>
                <a:cs typeface="Times New Roman" panose="02020603050405020304" pitchFamily="18" charset="0"/>
              </a:rPr>
              <a:t>FINDINGS FROM REFERENCE PAPERS</a:t>
            </a:r>
          </a:p>
          <a:p>
            <a:pPr marL="457200" indent="-457200" algn="l">
              <a:buFont typeface="Arial" panose="020B0604020202020204" pitchFamily="34" charset="0"/>
              <a:buAutoNum type="arabicPeriod" startAt="5"/>
            </a:pPr>
            <a:r>
              <a:rPr lang="en-IN" sz="2000" b="1" dirty="0">
                <a:latin typeface="Times New Roman" panose="02020603050405020304" pitchFamily="18" charset="0"/>
                <a:cs typeface="Times New Roman" panose="02020603050405020304" pitchFamily="18" charset="0"/>
              </a:rPr>
              <a:t>APPLICATIONS OF THE PROJECT</a:t>
            </a:r>
          </a:p>
          <a:p>
            <a:pPr marL="457200" indent="-457200" algn="l">
              <a:buFont typeface="Arial" panose="020B0604020202020204" pitchFamily="34" charset="0"/>
              <a:buAutoNum type="arabicPeriod" startAt="5"/>
            </a:pPr>
            <a:r>
              <a:rPr lang="en-IN" sz="2000" b="1" dirty="0">
                <a:latin typeface="Times New Roman" panose="02020603050405020304" pitchFamily="18" charset="0"/>
                <a:cs typeface="Times New Roman" panose="02020603050405020304" pitchFamily="18" charset="0"/>
              </a:rPr>
              <a:t>NOVELTY AND INNOVATION</a:t>
            </a:r>
          </a:p>
          <a:p>
            <a:pPr marL="457200" indent="-457200" algn="l">
              <a:buFont typeface="Arial" panose="020B0604020202020204" pitchFamily="34" charset="0"/>
              <a:buAutoNum type="arabicPeriod" startAt="5"/>
            </a:pPr>
            <a:r>
              <a:rPr lang="en-IN" sz="2000" b="1" dirty="0">
                <a:latin typeface="Times New Roman" panose="02020603050405020304" pitchFamily="18" charset="0"/>
                <a:cs typeface="Times New Roman" panose="02020603050405020304" pitchFamily="18" charset="0"/>
              </a:rPr>
              <a:t>IMPLEMENTATION DETAILS &amp; ROADMAP/BLUEPRINT</a:t>
            </a:r>
          </a:p>
          <a:p>
            <a:pPr marL="457200" indent="-457200" algn="l">
              <a:buFont typeface="Arial" panose="020B0604020202020204" pitchFamily="34" charset="0"/>
              <a:buAutoNum type="arabicPeriod" startAt="5"/>
            </a:pPr>
            <a:r>
              <a:rPr lang="en-IN" sz="2000" b="1" dirty="0">
                <a:latin typeface="Times New Roman" panose="02020603050405020304" pitchFamily="18" charset="0"/>
                <a:cs typeface="Times New Roman" panose="02020603050405020304" pitchFamily="18" charset="0"/>
              </a:rPr>
              <a:t>REFERENCES</a:t>
            </a:r>
          </a:p>
          <a:p>
            <a:pPr marL="457200" indent="-457200" algn="l">
              <a:buFont typeface="Arial" panose="020B0604020202020204" pitchFamily="34" charset="0"/>
              <a:buAutoNum type="arabicPeriod" startAt="5"/>
            </a:pPr>
            <a:endParaRPr lang="en-IN" b="1" dirty="0">
              <a:latin typeface="Times New Roman" panose="02020603050405020304" pitchFamily="18" charset="0"/>
              <a:cs typeface="Times New Roman" panose="02020603050405020304" pitchFamily="18" charset="0"/>
            </a:endParaRPr>
          </a:p>
          <a:p>
            <a:pPr algn="l"/>
            <a:endParaRPr lang="en-IN" b="1" dirty="0">
              <a:latin typeface="Times New Roman" panose="02020603050405020304" pitchFamily="18" charset="0"/>
              <a:cs typeface="Times New Roman" panose="02020603050405020304" pitchFamily="18" charset="0"/>
            </a:endParaRPr>
          </a:p>
          <a:p>
            <a:pPr marL="457200" indent="-457200" algn="l">
              <a:buAutoNum type="arabicPeriod" startAt="5"/>
            </a:pPr>
            <a:endParaRPr lang="en-IN" b="1" dirty="0">
              <a:latin typeface="Times New Roman" panose="02020603050405020304" pitchFamily="18" charset="0"/>
              <a:cs typeface="Times New Roman" panose="02020603050405020304" pitchFamily="18" charset="0"/>
            </a:endParaRPr>
          </a:p>
          <a:p>
            <a:pPr marL="457200" indent="-457200" algn="l">
              <a:buAutoNum type="arabicPeriod" startAt="5"/>
            </a:pPr>
            <a:endParaRPr lang="en-US" b="1" dirty="0">
              <a:latin typeface="Times New Roman" panose="02020603050405020304" pitchFamily="18" charset="0"/>
              <a:cs typeface="Times New Roman" panose="02020603050405020304" pitchFamily="18" charset="0"/>
            </a:endParaRPr>
          </a:p>
          <a:p>
            <a:pPr marL="457200" indent="-457200" algn="l">
              <a:buAutoNum type="arabicPeriod" startAt="5"/>
            </a:pPr>
            <a:endParaRPr lang="en-IN" b="1" dirty="0">
              <a:latin typeface="Times New Roman" panose="02020603050405020304" pitchFamily="18" charset="0"/>
              <a:cs typeface="Times New Roman" panose="02020603050405020304" pitchFamily="18" charset="0"/>
            </a:endParaRPr>
          </a:p>
          <a:p>
            <a:pPr marL="457200" indent="-457200" algn="l">
              <a:buAutoNum type="arabicPeriod" startAt="5"/>
            </a:pPr>
            <a:endParaRPr lang="en-IN" b="1"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AutoNum type="arabicPeriod"/>
            </a:pPr>
            <a:endParaRPr lang="en-IN" b="1"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AutoNum type="arabicPeriod"/>
            </a:pPr>
            <a:endParaRPr lang="en-IN" b="1" dirty="0">
              <a:latin typeface="Sitka Display Semibold" pitchFamily="2" charset="0"/>
            </a:endParaRPr>
          </a:p>
          <a:p>
            <a:pPr marL="457200" indent="-457200" algn="l">
              <a:buFont typeface="Arial" panose="020B0604020202020204" pitchFamily="34" charset="0"/>
              <a:buAutoNum type="arabicPeriod"/>
            </a:pPr>
            <a:endParaRPr lang="en-IN" b="1" dirty="0">
              <a:latin typeface="Sitka Display Semibold" pitchFamily="2" charset="0"/>
            </a:endParaRPr>
          </a:p>
          <a:p>
            <a:pPr marL="457200" indent="-457200" algn="l">
              <a:buFont typeface="Arial" panose="020B0604020202020204" pitchFamily="34" charset="0"/>
              <a:buAutoNum type="arabicPeriod"/>
            </a:pPr>
            <a:endParaRPr lang="en-IN" b="1"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AutoNum type="arabicPeriod"/>
            </a:pPr>
            <a:endParaRPr lang="en-IN" b="1" dirty="0">
              <a:latin typeface="Times New Roman" panose="02020603050405020304" pitchFamily="18" charset="0"/>
              <a:cs typeface="Times New Roman" panose="02020603050405020304" pitchFamily="18" charset="0"/>
            </a:endParaRPr>
          </a:p>
          <a:p>
            <a:pPr marL="457200" indent="-457200" algn="l">
              <a:buAutoNum type="arabicPeriod"/>
            </a:pPr>
            <a:endParaRPr lang="en-IN" dirty="0">
              <a:latin typeface="Times New Roman" panose="02020603050405020304" pitchFamily="18" charset="0"/>
              <a:cs typeface="Times New Roman" panose="02020603050405020304" pitchFamily="18" charset="0"/>
            </a:endParaRPr>
          </a:p>
          <a:p>
            <a:pPr marL="457200" indent="-457200" algn="l">
              <a:buAutoNum type="arabicPeriod"/>
            </a:pPr>
            <a:endParaRPr lang="en-IN" dirty="0">
              <a:latin typeface="Times New Roman" panose="02020603050405020304" pitchFamily="18" charset="0"/>
              <a:cs typeface="Times New Roman" panose="02020603050405020304" pitchFamily="18" charset="0"/>
            </a:endParaRPr>
          </a:p>
        </p:txBody>
      </p:sp>
      <p:pic>
        <p:nvPicPr>
          <p:cNvPr id="5" name="image5.jpeg">
            <a:extLst>
              <a:ext uri="{FF2B5EF4-FFF2-40B4-BE49-F238E27FC236}">
                <a16:creationId xmlns:a16="http://schemas.microsoft.com/office/drawing/2014/main" id="{EDEE217B-261B-8BE5-92DE-E6046F3A83A3}"/>
              </a:ext>
            </a:extLst>
          </p:cNvPr>
          <p:cNvPicPr>
            <a:picLocks noChangeAspect="1"/>
          </p:cNvPicPr>
          <p:nvPr/>
        </p:nvPicPr>
        <p:blipFill>
          <a:blip r:embed="rId2" cstate="print"/>
          <a:stretch>
            <a:fillRect/>
          </a:stretch>
        </p:blipFill>
        <p:spPr>
          <a:xfrm>
            <a:off x="2950809" y="59183"/>
            <a:ext cx="6429465" cy="897296"/>
          </a:xfrm>
          <a:prstGeom prst="rect">
            <a:avLst/>
          </a:prstGeom>
        </p:spPr>
      </p:pic>
    </p:spTree>
    <p:extLst>
      <p:ext uri="{BB962C8B-B14F-4D97-AF65-F5344CB8AC3E}">
        <p14:creationId xmlns:p14="http://schemas.microsoft.com/office/powerpoint/2010/main" val="276373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27FD8E2-1E2A-1C45-D661-5240189522A4}"/>
              </a:ext>
            </a:extLst>
          </p:cNvPr>
          <p:cNvPicPr>
            <a:picLocks noChangeAspect="1"/>
          </p:cNvPicPr>
          <p:nvPr/>
        </p:nvPicPr>
        <p:blipFill>
          <a:blip r:embed="rId2"/>
          <a:stretch>
            <a:fillRect/>
          </a:stretch>
        </p:blipFill>
        <p:spPr>
          <a:xfrm>
            <a:off x="836612" y="457200"/>
            <a:ext cx="3932236" cy="2399122"/>
          </a:xfrm>
          <a:prstGeom prst="rect">
            <a:avLst/>
          </a:prstGeom>
        </p:spPr>
      </p:pic>
      <p:sp>
        <p:nvSpPr>
          <p:cNvPr id="4" name="Title 3">
            <a:extLst>
              <a:ext uri="{FF2B5EF4-FFF2-40B4-BE49-F238E27FC236}">
                <a16:creationId xmlns:a16="http://schemas.microsoft.com/office/drawing/2014/main" id="{EEDC15CE-C0EE-9930-AFBE-5F50E0562D9A}"/>
              </a:ext>
            </a:extLst>
          </p:cNvPr>
          <p:cNvSpPr>
            <a:spLocks noGrp="1"/>
          </p:cNvSpPr>
          <p:nvPr>
            <p:ph type="title"/>
          </p:nvPr>
        </p:nvSpPr>
        <p:spPr>
          <a:xfrm>
            <a:off x="839788" y="457200"/>
            <a:ext cx="3929060" cy="2304854"/>
          </a:xfrm>
        </p:spPr>
        <p:txBody>
          <a:bodyPr/>
          <a:lstStyle/>
          <a:p>
            <a:endParaRPr lang="en-IN" dirty="0"/>
          </a:p>
        </p:txBody>
      </p:sp>
      <p:sp>
        <p:nvSpPr>
          <p:cNvPr id="3" name="Subtitle 2">
            <a:extLst>
              <a:ext uri="{FF2B5EF4-FFF2-40B4-BE49-F238E27FC236}">
                <a16:creationId xmlns:a16="http://schemas.microsoft.com/office/drawing/2014/main" id="{0B304A5B-A54F-4A67-93A1-9C57D7288ED8}"/>
              </a:ext>
            </a:extLst>
          </p:cNvPr>
          <p:cNvSpPr>
            <a:spLocks noGrp="1"/>
          </p:cNvSpPr>
          <p:nvPr>
            <p:ph idx="1"/>
          </p:nvPr>
        </p:nvSpPr>
        <p:spPr>
          <a:xfrm>
            <a:off x="5183188" y="575035"/>
            <a:ext cx="6172200" cy="5759777"/>
          </a:xfrm>
        </p:spPr>
        <p:txBody>
          <a:bodyPr>
            <a:normAutofit fontScale="92500"/>
          </a:bodyPr>
          <a:lstStyle/>
          <a:p>
            <a:pPr marL="0" indent="0" algn="l">
              <a:buNone/>
            </a:pPr>
            <a:r>
              <a:rPr lang="en-IN" b="1" dirty="0">
                <a:latin typeface="Times New Roman" panose="02020603050405020304" pitchFamily="18" charset="0"/>
                <a:cs typeface="Times New Roman" panose="02020603050405020304" pitchFamily="18" charset="0"/>
              </a:rPr>
              <a:t>1. ABSTRACT</a:t>
            </a:r>
            <a:r>
              <a:rPr lang="en-IN" dirty="0">
                <a:latin typeface="Times New Roman" panose="02020603050405020304" pitchFamily="18" charset="0"/>
                <a:cs typeface="Times New Roman" panose="02020603050405020304" pitchFamily="18" charset="0"/>
              </a:rPr>
              <a:t>:</a:t>
            </a:r>
          </a:p>
          <a:p>
            <a:pPr algn="just"/>
            <a:r>
              <a:rPr lang="en-US" sz="2000" dirty="0"/>
              <a:t>The rise of generative AI has made it increasingly difficult to distinguish </a:t>
            </a:r>
            <a:r>
              <a:rPr lang="en-US" sz="2000" b="1" dirty="0"/>
              <a:t>authentic media</a:t>
            </a:r>
            <a:r>
              <a:rPr lang="en-US" sz="2000" dirty="0"/>
              <a:t> from </a:t>
            </a:r>
            <a:r>
              <a:rPr lang="en-US" sz="2000" b="1" dirty="0"/>
              <a:t>AI-generated content</a:t>
            </a:r>
            <a:r>
              <a:rPr lang="en-US" sz="2000" dirty="0"/>
              <a:t>, resulting in misinformation, digital forgery, and loss of public trust . This project presents a </a:t>
            </a:r>
            <a:r>
              <a:rPr lang="en-US" sz="2000" b="1" dirty="0"/>
              <a:t>Blockchain-Based AI Framework</a:t>
            </a:r>
            <a:r>
              <a:rPr lang="en-US" sz="2000" dirty="0"/>
              <a:t> to verify the authenticity of digital media and detect AI-generated content.</a:t>
            </a:r>
          </a:p>
          <a:p>
            <a:pPr algn="just"/>
            <a:r>
              <a:rPr lang="en-US" sz="2000" dirty="0"/>
              <a:t> The framework integrates </a:t>
            </a:r>
            <a:r>
              <a:rPr lang="en-US" sz="2000" b="1" dirty="0"/>
              <a:t>deep learning models</a:t>
            </a:r>
            <a:r>
              <a:rPr lang="en-US" sz="2000" dirty="0"/>
              <a:t> to analyze and classify media authenticity with </a:t>
            </a:r>
            <a:r>
              <a:rPr lang="en-US" sz="2000" b="1" dirty="0"/>
              <a:t>blockchain technology</a:t>
            </a:r>
            <a:r>
              <a:rPr lang="en-US" sz="2000" dirty="0"/>
              <a:t> to securely and immutably store verification data. Each verified file is assigned a </a:t>
            </a:r>
            <a:r>
              <a:rPr lang="en-US" sz="2000" b="1" dirty="0"/>
              <a:t>unique cryptographic hash</a:t>
            </a:r>
            <a:r>
              <a:rPr lang="en-US" sz="2000" dirty="0"/>
              <a:t> and recorded on the blockchain along with its AI-based authenticity score and metadata. When the same file is re-uploaded, the system compares its hash with existing blockchain records to confirm authenticity or detect any tampering. This approach ensures </a:t>
            </a:r>
            <a:r>
              <a:rPr lang="en-US" sz="2000" b="1" dirty="0"/>
              <a:t>transparency, traceability, and trust</a:t>
            </a:r>
            <a:r>
              <a:rPr lang="en-US" sz="2000" dirty="0"/>
              <a:t>, creating a </a:t>
            </a:r>
            <a:r>
              <a:rPr lang="en-US" sz="2000" b="1" dirty="0"/>
              <a:t>tamper-proof verification system</a:t>
            </a:r>
            <a:r>
              <a:rPr lang="en-US" sz="2000" dirty="0"/>
              <a:t> applicable in </a:t>
            </a:r>
            <a:r>
              <a:rPr lang="en-US" sz="2000" b="1" dirty="0"/>
              <a:t>journalism, legal forensics, and social media</a:t>
            </a:r>
            <a:r>
              <a:rPr lang="en-US" sz="2000" dirty="0"/>
              <a:t> to combat the growing threat of synthetic media.</a:t>
            </a:r>
          </a:p>
          <a:p>
            <a:pPr algn="just"/>
            <a:endParaRPr lang="en-US" sz="2000" dirty="0"/>
          </a:p>
          <a:p>
            <a:pPr algn="just"/>
            <a:endParaRPr lang="en-US" sz="2000" dirty="0"/>
          </a:p>
          <a:p>
            <a:endParaRPr lang="en-IN" dirty="0">
              <a:latin typeface="Comic Sans MS" panose="030F0702030302020204" pitchFamily="66" charset="0"/>
            </a:endParaRPr>
          </a:p>
          <a:p>
            <a:endParaRPr lang="en-IN" dirty="0">
              <a:latin typeface="Comic Sans MS" panose="030F0702030302020204" pitchFamily="66"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p:txBody>
      </p:sp>
      <p:sp>
        <p:nvSpPr>
          <p:cNvPr id="5" name="Text Placeholder 4">
            <a:extLst>
              <a:ext uri="{FF2B5EF4-FFF2-40B4-BE49-F238E27FC236}">
                <a16:creationId xmlns:a16="http://schemas.microsoft.com/office/drawing/2014/main" id="{250EE0C1-9F9D-1A9E-9C84-B02CF808878F}"/>
              </a:ext>
            </a:extLst>
          </p:cNvPr>
          <p:cNvSpPr>
            <a:spLocks noGrp="1"/>
          </p:cNvSpPr>
          <p:nvPr>
            <p:ph type="body" sz="half" idx="2"/>
          </p:nvPr>
        </p:nvSpPr>
        <p:spPr>
          <a:xfrm>
            <a:off x="839788" y="2978870"/>
            <a:ext cx="3932237" cy="2890118"/>
          </a:xfrm>
        </p:spPr>
        <p:txBody>
          <a:bodyPr/>
          <a:lstStyle/>
          <a:p>
            <a:endParaRPr lang="en-IN" b="1" dirty="0"/>
          </a:p>
          <a:p>
            <a:r>
              <a:rPr lang="en-IN" b="1" dirty="0"/>
              <a:t>Key Highlights :</a:t>
            </a:r>
          </a:p>
          <a:p>
            <a:r>
              <a:rPr lang="en-IN" b="1" dirty="0"/>
              <a:t>Problem:</a:t>
            </a:r>
            <a:r>
              <a:rPr lang="en-IN" dirty="0"/>
              <a:t> Deepfakes and AI-generated media cause misinformation and loss of trust.</a:t>
            </a:r>
          </a:p>
          <a:p>
            <a:r>
              <a:rPr lang="en-IN" b="1" dirty="0"/>
              <a:t>Proposed Solution:</a:t>
            </a:r>
            <a:r>
              <a:rPr lang="en-IN" dirty="0"/>
              <a:t> AI + Blockchain-based framework for secure and verifiable media authenticity.</a:t>
            </a:r>
          </a:p>
          <a:p>
            <a:r>
              <a:rPr lang="en-IN" b="1" dirty="0"/>
              <a:t>Outcome:</a:t>
            </a:r>
            <a:r>
              <a:rPr lang="en-IN" dirty="0"/>
              <a:t> A transparent, tamper-proof system ensuring hash authenticity and traceability of digital media.</a:t>
            </a:r>
          </a:p>
          <a:p>
            <a:endParaRPr lang="en-IN" dirty="0"/>
          </a:p>
        </p:txBody>
      </p:sp>
    </p:spTree>
    <p:extLst>
      <p:ext uri="{BB962C8B-B14F-4D97-AF65-F5344CB8AC3E}">
        <p14:creationId xmlns:p14="http://schemas.microsoft.com/office/powerpoint/2010/main" val="1219739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idx="1"/>
          </p:nvPr>
        </p:nvSpPr>
        <p:spPr>
          <a:xfrm>
            <a:off x="4798243" y="987425"/>
            <a:ext cx="6702458" cy="5337961"/>
          </a:xfrm>
        </p:spPr>
        <p:txBody>
          <a:bodyPr>
            <a:normAutofit fontScale="92500" lnSpcReduction="10000"/>
          </a:bodyPr>
          <a:lstStyle/>
          <a:p>
            <a:pPr marL="0" indent="0" algn="l">
              <a:lnSpc>
                <a:spcPct val="100000"/>
              </a:lnSpc>
              <a:buNone/>
            </a:pPr>
            <a:r>
              <a:rPr lang="en-IN" sz="2200" b="1" dirty="0">
                <a:latin typeface="Times New Roman" panose="02020603050405020304" pitchFamily="18" charset="0"/>
                <a:cs typeface="Times New Roman" panose="02020603050405020304" pitchFamily="18" charset="0"/>
              </a:rPr>
              <a:t>2. INTRODUCTION:</a:t>
            </a:r>
          </a:p>
          <a:p>
            <a:pPr algn="just">
              <a:lnSpc>
                <a:spcPct val="100000"/>
              </a:lnSpc>
            </a:pPr>
            <a:r>
              <a:rPr lang="en-US" sz="2000" dirty="0"/>
              <a:t>With the rapid advancement of </a:t>
            </a:r>
            <a:r>
              <a:rPr lang="en-US" sz="2000" b="1" dirty="0"/>
              <a:t>Artificial Intelligence</a:t>
            </a:r>
            <a:r>
              <a:rPr lang="en-US" sz="2000" dirty="0"/>
              <a:t>, the creation of highly realistic </a:t>
            </a:r>
            <a:r>
              <a:rPr lang="en-US" sz="2000" b="1" dirty="0"/>
              <a:t>synthetic media (deepfakes)</a:t>
            </a:r>
            <a:r>
              <a:rPr lang="en-US" sz="2000" dirty="0"/>
              <a:t> has become widespread. These AI-generated images, videos, and audio clips can convincingly mimic real people or events, making it difficult to distinguish between </a:t>
            </a:r>
            <a:r>
              <a:rPr lang="en-US" sz="2000" b="1" dirty="0"/>
              <a:t>authentic</a:t>
            </a:r>
            <a:r>
              <a:rPr lang="en-US" sz="2000" dirty="0"/>
              <a:t> and </a:t>
            </a:r>
            <a:r>
              <a:rPr lang="en-US" sz="2000" b="1" dirty="0"/>
              <a:t>manipulated</a:t>
            </a:r>
            <a:r>
              <a:rPr lang="en-US" sz="2000" dirty="0"/>
              <a:t> content. This challenge leads to </a:t>
            </a:r>
            <a:r>
              <a:rPr lang="en-US" sz="2000" b="1" dirty="0"/>
              <a:t>misinformation</a:t>
            </a:r>
            <a:r>
              <a:rPr lang="en-US" sz="2000" dirty="0"/>
              <a:t>, </a:t>
            </a:r>
            <a:r>
              <a:rPr lang="en-US" sz="2000" b="1" dirty="0"/>
              <a:t>identity fraud</a:t>
            </a:r>
            <a:r>
              <a:rPr lang="en-US" sz="2000" dirty="0"/>
              <a:t>, and a </a:t>
            </a:r>
            <a:r>
              <a:rPr lang="en-US" sz="2000" b="1" dirty="0"/>
              <a:t>loss of public trust</a:t>
            </a:r>
            <a:r>
              <a:rPr lang="en-US" sz="2000" dirty="0"/>
              <a:t> in digital information.</a:t>
            </a:r>
          </a:p>
          <a:p>
            <a:pPr algn="just">
              <a:lnSpc>
                <a:spcPct val="100000"/>
              </a:lnSpc>
            </a:pPr>
            <a:r>
              <a:rPr lang="en-US" sz="2000" dirty="0"/>
              <a:t>To address this, the project proposes a </a:t>
            </a:r>
            <a:r>
              <a:rPr lang="en-US" sz="2000" b="1" dirty="0"/>
              <a:t>Blockchain-Based AI Framework for Verification of Real and AI-Generated Media</a:t>
            </a:r>
            <a:r>
              <a:rPr lang="en-US" sz="2000" dirty="0"/>
              <a:t>. It combines </a:t>
            </a:r>
            <a:r>
              <a:rPr lang="en-US" sz="2000" b="1" dirty="0"/>
              <a:t>deep learning algorithms</a:t>
            </a:r>
            <a:r>
              <a:rPr lang="en-US" sz="2000" dirty="0"/>
              <a:t> to detect media authenticity with </a:t>
            </a:r>
            <a:r>
              <a:rPr lang="en-US" sz="2000" b="1" dirty="0"/>
              <a:t>blockchain technology</a:t>
            </a:r>
            <a:r>
              <a:rPr lang="en-US" sz="2000" dirty="0"/>
              <a:t> for </a:t>
            </a:r>
            <a:r>
              <a:rPr lang="en-US" sz="2000" b="1" dirty="0"/>
              <a:t>secure and immutable record storage</a:t>
            </a:r>
            <a:r>
              <a:rPr lang="en-US" sz="2000" dirty="0"/>
              <a:t>, ensuring </a:t>
            </a:r>
            <a:r>
              <a:rPr lang="en-US" sz="2000" b="1" dirty="0"/>
              <a:t>traceability</a:t>
            </a:r>
            <a:r>
              <a:rPr lang="en-US" sz="2000" dirty="0"/>
              <a:t> and </a:t>
            </a:r>
            <a:r>
              <a:rPr lang="en-US" sz="2000" b="1" dirty="0"/>
              <a:t>transparency</a:t>
            </a:r>
            <a:r>
              <a:rPr lang="en-US" sz="2000" dirty="0"/>
              <a:t>. Each verified file is assigned a </a:t>
            </a:r>
            <a:r>
              <a:rPr lang="en-US" sz="2000" b="1" dirty="0"/>
              <a:t>unique cryptographic hash</a:t>
            </a:r>
            <a:r>
              <a:rPr lang="en-US" sz="2000" dirty="0"/>
              <a:t> and recorded on the blockchain, enabling detection of </a:t>
            </a:r>
            <a:r>
              <a:rPr lang="en-US" sz="2000" b="1" dirty="0"/>
              <a:t>tampering</a:t>
            </a:r>
            <a:r>
              <a:rPr lang="en-US" sz="2000" dirty="0"/>
              <a:t> or unauthorized modification. This framework establishes a </a:t>
            </a:r>
            <a:r>
              <a:rPr lang="en-US" sz="2000" b="1" dirty="0"/>
              <a:t>trusted digital ecosystem</a:t>
            </a:r>
            <a:r>
              <a:rPr lang="en-US" sz="2000" dirty="0"/>
              <a:t> for use in </a:t>
            </a:r>
            <a:r>
              <a:rPr lang="en-US" sz="2000" b="1" dirty="0"/>
              <a:t>journalism, legal forensics, and social media</a:t>
            </a:r>
            <a:r>
              <a:rPr lang="en-US" sz="2000" dirty="0"/>
              <a:t>.</a:t>
            </a:r>
          </a:p>
          <a:p>
            <a:pPr algn="just"/>
            <a:endParaRPr lang="en-IN" sz="2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961E8BD4-7534-A1F1-348A-6C59D7BD00A1}"/>
              </a:ext>
            </a:extLst>
          </p:cNvPr>
          <p:cNvSpPr>
            <a:spLocks noGrp="1"/>
          </p:cNvSpPr>
          <p:nvPr>
            <p:ph type="body" sz="half" idx="2"/>
          </p:nvPr>
        </p:nvSpPr>
        <p:spPr>
          <a:xfrm>
            <a:off x="479033" y="1008669"/>
            <a:ext cx="3934774" cy="4756625"/>
          </a:xfrm>
        </p:spPr>
        <p:txBody>
          <a:bodyPr/>
          <a:lstStyle/>
          <a:p>
            <a:endParaRPr lang="en-IN" dirty="0"/>
          </a:p>
        </p:txBody>
      </p:sp>
      <p:pic>
        <p:nvPicPr>
          <p:cNvPr id="8194" name="Picture 2" descr="An artificial intelligence and blockchain technology-based ...">
            <a:extLst>
              <a:ext uri="{FF2B5EF4-FFF2-40B4-BE49-F238E27FC236}">
                <a16:creationId xmlns:a16="http://schemas.microsoft.com/office/drawing/2014/main" id="{2FA748CC-F2DA-598E-373B-9EFB2086C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034" y="924908"/>
            <a:ext cx="4319209" cy="5174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122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830424" y="696036"/>
            <a:ext cx="10580915" cy="5434176"/>
          </a:xfrm>
        </p:spPr>
        <p:txBody>
          <a:bodyPr>
            <a:normAutofit fontScale="92500" lnSpcReduction="10000"/>
          </a:bodyPr>
          <a:lstStyle/>
          <a:p>
            <a:pPr algn="l"/>
            <a:r>
              <a:rPr lang="en-IN" b="1" dirty="0">
                <a:latin typeface="Times New Roman" panose="02020603050405020304" pitchFamily="18" charset="0"/>
                <a:cs typeface="Times New Roman" panose="02020603050405020304" pitchFamily="18" charset="0"/>
              </a:rPr>
              <a:t>3. OBJECTIVES </a:t>
            </a:r>
            <a:r>
              <a:rPr lang="en-IN" b="1" dirty="0">
                <a:latin typeface="Sitka Display Semibold" pitchFamily="2" charset="0"/>
              </a:rPr>
              <a:t>:</a:t>
            </a:r>
          </a:p>
          <a:p>
            <a:pPr algn="l"/>
            <a:endParaRPr lang="en-IN" dirty="0">
              <a:latin typeface="Comic Sans MS" panose="030F0702030302020204" pitchFamily="66" charset="0"/>
            </a:endParaRPr>
          </a:p>
          <a:p>
            <a:pPr algn="just"/>
            <a:r>
              <a:rPr lang="en-US" sz="2000" b="1" dirty="0"/>
              <a:t>1. Media Authenticity Detection :</a:t>
            </a:r>
          </a:p>
          <a:p>
            <a:pPr algn="just"/>
            <a:r>
              <a:rPr lang="en-US" sz="2000" dirty="0"/>
              <a:t>The framework employs advanced </a:t>
            </a:r>
            <a:r>
              <a:rPr lang="en-US" sz="2000" b="1" dirty="0"/>
              <a:t>deep learning algorithms</a:t>
            </a:r>
            <a:r>
              <a:rPr lang="en-US" sz="2000" dirty="0"/>
              <a:t> to analyze digital media and accurately differentiate between </a:t>
            </a:r>
            <a:r>
              <a:rPr lang="en-US" sz="2000" b="1" dirty="0"/>
              <a:t>real and AI-generated content</a:t>
            </a:r>
            <a:r>
              <a:rPr lang="en-US" sz="2000" dirty="0"/>
              <a:t>. This ensures early identification of deepfakes and other synthetic manipulations.</a:t>
            </a:r>
          </a:p>
          <a:p>
            <a:pPr algn="just"/>
            <a:r>
              <a:rPr lang="en-US" sz="2000" b="1" dirty="0"/>
              <a:t>2. Secure Data Storage :</a:t>
            </a:r>
          </a:p>
          <a:p>
            <a:pPr algn="just"/>
            <a:r>
              <a:rPr lang="en-US" sz="2000" dirty="0"/>
              <a:t>All verification details are stored on a </a:t>
            </a:r>
            <a:r>
              <a:rPr lang="en-US" sz="2000" b="1" dirty="0"/>
              <a:t>blockchain ledger</a:t>
            </a:r>
            <a:r>
              <a:rPr lang="en-US" sz="2000" dirty="0"/>
              <a:t>, ensuring that data remains </a:t>
            </a:r>
            <a:r>
              <a:rPr lang="en-US" sz="2000" b="1" dirty="0"/>
              <a:t>secure, immutable, and tamper-proof</a:t>
            </a:r>
            <a:r>
              <a:rPr lang="en-US" sz="2000" dirty="0"/>
              <a:t>. This guarantees the integrity and permanence of authenticity records.</a:t>
            </a:r>
          </a:p>
          <a:p>
            <a:pPr algn="just"/>
            <a:r>
              <a:rPr lang="en-US" sz="2000" b="1" dirty="0"/>
              <a:t>3. Unique Hash Generation :</a:t>
            </a:r>
          </a:p>
          <a:p>
            <a:pPr algn="just"/>
            <a:r>
              <a:rPr lang="en-US" sz="2000" dirty="0"/>
              <a:t>Each verified file is assigned a </a:t>
            </a:r>
            <a:r>
              <a:rPr lang="en-US" sz="2000" b="1" dirty="0"/>
              <a:t>unique cryptographic hash</a:t>
            </a:r>
            <a:r>
              <a:rPr lang="en-US" sz="2000" dirty="0"/>
              <a:t>, acting as its digital fingerprint. This hash enables the system to </a:t>
            </a:r>
            <a:r>
              <a:rPr lang="en-US" sz="2000" b="1" dirty="0"/>
              <a:t>verify future uploads</a:t>
            </a:r>
            <a:r>
              <a:rPr lang="en-US" sz="2000" dirty="0"/>
              <a:t> and instantly detect any </a:t>
            </a:r>
            <a:r>
              <a:rPr lang="en-US" sz="2000" b="1" dirty="0"/>
              <a:t>unauthorized modifications</a:t>
            </a:r>
            <a:r>
              <a:rPr lang="en-US" sz="2000" dirty="0"/>
              <a:t> or tampering.</a:t>
            </a:r>
          </a:p>
          <a:p>
            <a:pPr algn="just"/>
            <a:r>
              <a:rPr lang="en-US" sz="2000" b="1" dirty="0"/>
              <a:t>4. Building Digital Trust :</a:t>
            </a:r>
          </a:p>
          <a:p>
            <a:pPr algn="just"/>
            <a:r>
              <a:rPr lang="en-US" sz="2000" dirty="0"/>
              <a:t>By combining AI and blockchain, the framework establishes a </a:t>
            </a:r>
            <a:r>
              <a:rPr lang="en-US" sz="2000" b="1" dirty="0"/>
              <a:t>transparent and reliable verification system</a:t>
            </a:r>
            <a:r>
              <a:rPr lang="en-US" sz="2000" dirty="0"/>
              <a:t> that helps prevent </a:t>
            </a:r>
            <a:r>
              <a:rPr lang="en-US" sz="2000" b="1" dirty="0"/>
              <a:t>misinformation, forgery, and identity manipulation</a:t>
            </a:r>
            <a:r>
              <a:rPr lang="en-US" sz="2000" dirty="0"/>
              <a:t> across platforms such as </a:t>
            </a:r>
            <a:r>
              <a:rPr lang="en-US" sz="2000" b="1" dirty="0"/>
              <a:t>journalism, legal forensics, and social media</a:t>
            </a:r>
            <a:r>
              <a:rPr lang="en-US" sz="2000" dirty="0"/>
              <a:t>.</a:t>
            </a:r>
          </a:p>
          <a:p>
            <a:pPr algn="just"/>
            <a:endParaRPr lang="en-IN" sz="2000" dirty="0">
              <a:latin typeface="Comic Sans MS" panose="030F0702030302020204" pitchFamily="66" charset="0"/>
            </a:endParaRPr>
          </a:p>
        </p:txBody>
      </p:sp>
    </p:spTree>
    <p:extLst>
      <p:ext uri="{BB962C8B-B14F-4D97-AF65-F5344CB8AC3E}">
        <p14:creationId xmlns:p14="http://schemas.microsoft.com/office/powerpoint/2010/main" val="2308261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sz="half" idx="1"/>
          </p:nvPr>
        </p:nvSpPr>
        <p:spPr>
          <a:xfrm>
            <a:off x="838200" y="1027522"/>
            <a:ext cx="5181600" cy="5514680"/>
          </a:xfrm>
        </p:spPr>
        <p:txBody>
          <a:bodyPr>
            <a:normAutofit fontScale="47500" lnSpcReduction="20000"/>
          </a:bodyPr>
          <a:lstStyle/>
          <a:p>
            <a:pPr marL="0" indent="0" algn="l">
              <a:buNone/>
            </a:pPr>
            <a:r>
              <a:rPr lang="en-IN" sz="4200" b="1" dirty="0">
                <a:latin typeface="Times New Roman" panose="02020603050405020304" pitchFamily="18" charset="0"/>
                <a:cs typeface="Times New Roman" panose="02020603050405020304" pitchFamily="18" charset="0"/>
              </a:rPr>
              <a:t>4. EXISTED SYSTEM </a:t>
            </a:r>
          </a:p>
          <a:p>
            <a:pPr algn="l"/>
            <a:endParaRPr lang="en-IN" dirty="0">
              <a:latin typeface="Times New Roman" panose="02020603050405020304" pitchFamily="18" charset="0"/>
              <a:cs typeface="Times New Roman" panose="02020603050405020304" pitchFamily="18" charset="0"/>
            </a:endParaRPr>
          </a:p>
          <a:p>
            <a:pPr algn="just">
              <a:lnSpc>
                <a:spcPct val="120000"/>
              </a:lnSpc>
            </a:pPr>
            <a:r>
              <a:rPr lang="en-US" sz="3300" dirty="0"/>
              <a:t>The existing systems for verifying digital media primarily rely on </a:t>
            </a:r>
            <a:r>
              <a:rPr lang="en-US" sz="3300" b="1" dirty="0"/>
              <a:t>manual inspection</a:t>
            </a:r>
            <a:r>
              <a:rPr lang="en-US" sz="3300" dirty="0"/>
              <a:t> and </a:t>
            </a:r>
            <a:r>
              <a:rPr lang="en-US" sz="3300" b="1" dirty="0"/>
              <a:t>AI-based detection models</a:t>
            </a:r>
            <a:r>
              <a:rPr lang="en-US" sz="3300" dirty="0"/>
              <a:t> that analyze content features such as inconsistencies in lighting, facial movements, and pixel patterns. While these AI detectors can identify many manipulated or deepfake images and videos, they are </a:t>
            </a:r>
            <a:r>
              <a:rPr lang="en-US" sz="3300" b="1" dirty="0"/>
              <a:t>not fully reliable</a:t>
            </a:r>
            <a:r>
              <a:rPr lang="en-US" sz="3300" dirty="0"/>
              <a:t> due to the rapid advancement of generative AI tools that produce highly realistic fake content.</a:t>
            </a:r>
            <a:br>
              <a:rPr lang="en-US" sz="3300" dirty="0"/>
            </a:br>
            <a:r>
              <a:rPr lang="en-US" sz="3300" dirty="0"/>
              <a:t>Additionally, there is </a:t>
            </a:r>
            <a:r>
              <a:rPr lang="en-US" sz="3300" b="1" dirty="0"/>
              <a:t>no permanent record or proof of authenticity</a:t>
            </a:r>
            <a:r>
              <a:rPr lang="en-US" sz="3300" dirty="0"/>
              <a:t>, making it difficult to trace the true origin or verify if the media has been tampered with. The absence of </a:t>
            </a:r>
            <a:r>
              <a:rPr lang="en-US" sz="3300" b="1" dirty="0"/>
              <a:t>secure provenance tracking</a:t>
            </a:r>
            <a:r>
              <a:rPr lang="en-US" sz="3300" dirty="0"/>
              <a:t> and </a:t>
            </a:r>
            <a:r>
              <a:rPr lang="en-US" sz="3300" b="1" dirty="0"/>
              <a:t>immutable storage mechanisms</a:t>
            </a:r>
            <a:r>
              <a:rPr lang="en-US" sz="3300" dirty="0"/>
              <a:t> often leads to misinformation and loss of trust in digital content.</a:t>
            </a:r>
          </a:p>
          <a:p>
            <a:pPr marL="0" indent="0">
              <a:buNone/>
            </a:pPr>
            <a:br>
              <a:rPr lang="en-US" dirty="0"/>
            </a:br>
            <a:endParaRPr lang="en-US" dirty="0"/>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dirty="0"/>
          </a:p>
          <a:p>
            <a:pPr algn="l"/>
            <a:endParaRPr lang="en-IN" dirty="0">
              <a:latin typeface="Comic Sans MS" panose="030F0702030302020204" pitchFamily="66" charset="0"/>
            </a:endParaRPr>
          </a:p>
        </p:txBody>
      </p:sp>
      <p:sp>
        <p:nvSpPr>
          <p:cNvPr id="4" name="Content Placeholder 3">
            <a:extLst>
              <a:ext uri="{FF2B5EF4-FFF2-40B4-BE49-F238E27FC236}">
                <a16:creationId xmlns:a16="http://schemas.microsoft.com/office/drawing/2014/main" id="{32FBA57B-9DE5-DB05-ABAD-7A21B123633A}"/>
              </a:ext>
            </a:extLst>
          </p:cNvPr>
          <p:cNvSpPr>
            <a:spLocks noGrp="1"/>
          </p:cNvSpPr>
          <p:nvPr>
            <p:ph sz="half" idx="2"/>
          </p:nvPr>
        </p:nvSpPr>
        <p:spPr>
          <a:xfrm>
            <a:off x="6172200" y="1178351"/>
            <a:ext cx="5181600" cy="4998612"/>
          </a:xfrm>
        </p:spPr>
        <p:txBody>
          <a:bodyPr>
            <a:normAutofit fontScale="47500" lnSpcReduction="20000"/>
          </a:bodyPr>
          <a:lstStyle/>
          <a:p>
            <a:pPr marL="0" indent="0" algn="just">
              <a:buNone/>
            </a:pPr>
            <a:r>
              <a:rPr lang="en-US" sz="4200" b="1" dirty="0"/>
              <a:t>Technologies/Tools Used </a:t>
            </a:r>
            <a:r>
              <a:rPr lang="en-US" sz="3800" b="1" dirty="0"/>
              <a:t>:</a:t>
            </a:r>
          </a:p>
          <a:p>
            <a:pPr marL="0" indent="0" algn="just">
              <a:buNone/>
            </a:pPr>
            <a:endParaRPr lang="en-US" sz="3800" b="1" dirty="0"/>
          </a:p>
          <a:p>
            <a:pPr algn="just">
              <a:lnSpc>
                <a:spcPct val="120000"/>
              </a:lnSpc>
              <a:buFont typeface="Wingdings" panose="05000000000000000000" pitchFamily="2" charset="2"/>
              <a:buChar char="Ø"/>
            </a:pPr>
            <a:r>
              <a:rPr lang="en-US" sz="3800" b="1" dirty="0"/>
              <a:t>Artificial Intelligence (AI)</a:t>
            </a:r>
            <a:r>
              <a:rPr lang="en-US" sz="3800" dirty="0"/>
              <a:t> – for deepfake detection and content analysis.</a:t>
            </a:r>
          </a:p>
          <a:p>
            <a:pPr algn="just">
              <a:lnSpc>
                <a:spcPct val="120000"/>
              </a:lnSpc>
              <a:buFont typeface="Wingdings" panose="05000000000000000000" pitchFamily="2" charset="2"/>
              <a:buChar char="Ø"/>
            </a:pPr>
            <a:r>
              <a:rPr lang="en-US" sz="3800" b="1" dirty="0"/>
              <a:t>Machine Learning Algorithms</a:t>
            </a:r>
            <a:r>
              <a:rPr lang="en-US" sz="3800" dirty="0"/>
              <a:t> – to classify media as real or fake.</a:t>
            </a:r>
          </a:p>
          <a:p>
            <a:pPr algn="just">
              <a:lnSpc>
                <a:spcPct val="120000"/>
              </a:lnSpc>
              <a:buFont typeface="Wingdings" panose="05000000000000000000" pitchFamily="2" charset="2"/>
              <a:buChar char="Ø"/>
            </a:pPr>
            <a:r>
              <a:rPr lang="en-US" sz="3800" b="1" dirty="0"/>
              <a:t>Computer Vision Techniques</a:t>
            </a:r>
            <a:r>
              <a:rPr lang="en-US" sz="3800" dirty="0"/>
              <a:t> – for facial recognition and pixel-level manipulation detection.</a:t>
            </a:r>
          </a:p>
          <a:p>
            <a:pPr algn="just">
              <a:lnSpc>
                <a:spcPct val="120000"/>
              </a:lnSpc>
              <a:buFont typeface="Wingdings" panose="05000000000000000000" pitchFamily="2" charset="2"/>
              <a:buChar char="Ø"/>
            </a:pPr>
            <a:r>
              <a:rPr lang="en-US" sz="3800" b="1" dirty="0"/>
              <a:t>Conventional Databases</a:t>
            </a:r>
            <a:r>
              <a:rPr lang="en-US" sz="3800" dirty="0"/>
              <a:t> – for storing detected results and media files.</a:t>
            </a:r>
          </a:p>
          <a:p>
            <a:pPr algn="just">
              <a:lnSpc>
                <a:spcPct val="120000"/>
              </a:lnSpc>
              <a:buFont typeface="Wingdings" panose="05000000000000000000" pitchFamily="2" charset="2"/>
              <a:buChar char="Ø"/>
            </a:pPr>
            <a:r>
              <a:rPr lang="en-US" sz="3800" b="1" dirty="0"/>
              <a:t>Cloud Storage</a:t>
            </a:r>
            <a:r>
              <a:rPr lang="en-US" sz="3800" dirty="0"/>
              <a:t> – for saving analyzed media data and reports.</a:t>
            </a:r>
          </a:p>
        </p:txBody>
      </p:sp>
    </p:spTree>
    <p:extLst>
      <p:ext uri="{BB962C8B-B14F-4D97-AF65-F5344CB8AC3E}">
        <p14:creationId xmlns:p14="http://schemas.microsoft.com/office/powerpoint/2010/main" val="242881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343F-5B12-AC71-A8CD-77ECB2185EF3}"/>
              </a:ext>
            </a:extLst>
          </p:cNvPr>
          <p:cNvSpPr>
            <a:spLocks noGrp="1"/>
          </p:cNvSpPr>
          <p:nvPr>
            <p:ph type="title"/>
          </p:nvPr>
        </p:nvSpPr>
        <p:spPr>
          <a:xfrm>
            <a:off x="838199" y="365126"/>
            <a:ext cx="6608975" cy="2821134"/>
          </a:xfrm>
        </p:spPr>
        <p:txBody>
          <a:bodyPr>
            <a:normAutofit fontScale="90000"/>
          </a:bodyPr>
          <a:lstStyle/>
          <a:p>
            <a:br>
              <a:rPr lang="en-IN" sz="1400" dirty="0">
                <a:latin typeface="Times New Roman" panose="02020603050405020304" pitchFamily="18" charset="0"/>
                <a:cs typeface="Times New Roman" panose="02020603050405020304" pitchFamily="18" charset="0"/>
              </a:rPr>
            </a:br>
            <a:br>
              <a:rPr lang="en-IN" sz="1400" dirty="0">
                <a:latin typeface="Times New Roman" panose="02020603050405020304" pitchFamily="18" charset="0"/>
                <a:cs typeface="Times New Roman" panose="02020603050405020304" pitchFamily="18" charset="0"/>
              </a:rPr>
            </a:br>
            <a:br>
              <a:rPr lang="en-IN" sz="1400" dirty="0">
                <a:latin typeface="Times New Roman" panose="02020603050405020304" pitchFamily="18" charset="0"/>
                <a:cs typeface="Times New Roman" panose="02020603050405020304" pitchFamily="18" charset="0"/>
              </a:rPr>
            </a:br>
            <a:r>
              <a:rPr lang="en-IN" sz="2200" b="1" dirty="0">
                <a:latin typeface="Times New Roman" panose="02020603050405020304" pitchFamily="18" charset="0"/>
                <a:cs typeface="Times New Roman" panose="02020603050405020304" pitchFamily="18" charset="0"/>
              </a:rPr>
              <a:t>5. PROPOSED SYSTEM  :</a:t>
            </a:r>
            <a:br>
              <a:rPr lang="en-IN" sz="2200" b="1" dirty="0">
                <a:latin typeface="Times New Roman" panose="02020603050405020304" pitchFamily="18" charset="0"/>
                <a:cs typeface="Times New Roman" panose="02020603050405020304" pitchFamily="18" charset="0"/>
              </a:rPr>
            </a:br>
            <a:br>
              <a:rPr lang="en-IN" sz="1600" b="1" dirty="0">
                <a:latin typeface="Times New Roman" panose="02020603050405020304" pitchFamily="18" charset="0"/>
                <a:cs typeface="Times New Roman" panose="02020603050405020304" pitchFamily="18" charset="0"/>
              </a:rPr>
            </a:br>
            <a:r>
              <a:rPr lang="en-US" sz="1600" b="1" dirty="0">
                <a:latin typeface="+mn-lt"/>
              </a:rPr>
              <a:t>Description of Proposed System :</a:t>
            </a:r>
            <a:br>
              <a:rPr lang="en-US" sz="1600" b="1" dirty="0">
                <a:latin typeface="+mn-lt"/>
              </a:rPr>
            </a:br>
            <a:br>
              <a:rPr lang="en-US" sz="1600" b="1" dirty="0">
                <a:latin typeface="+mn-lt"/>
              </a:rPr>
            </a:br>
            <a:r>
              <a:rPr lang="en-US" sz="1600" dirty="0">
                <a:latin typeface="+mn-lt"/>
              </a:rPr>
              <a:t>The proposed system integrates </a:t>
            </a:r>
            <a:r>
              <a:rPr lang="en-US" sz="1600" b="1" dirty="0">
                <a:latin typeface="+mn-lt"/>
              </a:rPr>
              <a:t>Blockchain technology</a:t>
            </a:r>
            <a:r>
              <a:rPr lang="en-US" sz="1600" dirty="0">
                <a:latin typeface="+mn-lt"/>
              </a:rPr>
              <a:t> with </a:t>
            </a:r>
            <a:r>
              <a:rPr lang="en-US" sz="1600" b="1" dirty="0">
                <a:latin typeface="+mn-lt"/>
              </a:rPr>
              <a:t>Artificial Intelligence</a:t>
            </a:r>
            <a:r>
              <a:rPr lang="en-US" sz="1600" dirty="0">
                <a:latin typeface="+mn-lt"/>
              </a:rPr>
              <a:t> to ensure authenticity and traceability of digital media.</a:t>
            </a:r>
            <a:br>
              <a:rPr lang="en-US" sz="1600" dirty="0">
                <a:latin typeface="+mn-lt"/>
              </a:rPr>
            </a:br>
            <a:r>
              <a:rPr lang="en-US" sz="1600" dirty="0">
                <a:latin typeface="+mn-lt"/>
              </a:rPr>
              <a:t>When any image, video, or audio is created, its </a:t>
            </a:r>
            <a:r>
              <a:rPr lang="en-US" sz="1600" b="1" dirty="0">
                <a:latin typeface="+mn-lt"/>
              </a:rPr>
              <a:t>unique hash and metadata</a:t>
            </a:r>
            <a:r>
              <a:rPr lang="en-US" sz="1600" dirty="0">
                <a:latin typeface="+mn-lt"/>
              </a:rPr>
              <a:t> (creator info, timestamp, etc.) are securely stored on the </a:t>
            </a:r>
            <a:r>
              <a:rPr lang="en-US" sz="1600" b="1" dirty="0">
                <a:latin typeface="+mn-lt"/>
              </a:rPr>
              <a:t>Blockchain</a:t>
            </a:r>
            <a:r>
              <a:rPr lang="en-US" sz="1600" dirty="0">
                <a:latin typeface="+mn-lt"/>
              </a:rPr>
              <a:t>, providing an immutable record of origin.</a:t>
            </a:r>
            <a:br>
              <a:rPr lang="en-US" sz="1600" dirty="0">
                <a:latin typeface="+mn-lt"/>
              </a:rPr>
            </a:br>
            <a:r>
              <a:rPr lang="en-US" sz="1600" dirty="0">
                <a:latin typeface="+mn-lt"/>
              </a:rPr>
              <a:t>The </a:t>
            </a:r>
            <a:r>
              <a:rPr lang="en-US" sz="1600" b="1" dirty="0">
                <a:latin typeface="+mn-lt"/>
              </a:rPr>
              <a:t>AI detection model</a:t>
            </a:r>
            <a:r>
              <a:rPr lang="en-US" sz="1600" dirty="0">
                <a:latin typeface="+mn-lt"/>
              </a:rPr>
              <a:t> then analyzes the content to identify any manipulation or deepfake characteristics.</a:t>
            </a:r>
            <a:br>
              <a:rPr lang="en-US" sz="1600" dirty="0">
                <a:latin typeface="+mn-lt"/>
              </a:rPr>
            </a:br>
            <a:r>
              <a:rPr lang="en-US" sz="1600" dirty="0">
                <a:latin typeface="+mn-lt"/>
              </a:rPr>
              <a:t>Finally, the </a:t>
            </a:r>
            <a:r>
              <a:rPr lang="en-US" sz="1600" b="1" dirty="0">
                <a:latin typeface="+mn-lt"/>
              </a:rPr>
              <a:t>verification engine</a:t>
            </a:r>
            <a:r>
              <a:rPr lang="en-US" sz="1600" dirty="0">
                <a:latin typeface="+mn-lt"/>
              </a:rPr>
              <a:t> compares the blockchain record with AI results to confirm whether the media is </a:t>
            </a:r>
            <a:r>
              <a:rPr lang="en-US" sz="1600" b="1" dirty="0">
                <a:latin typeface="+mn-lt"/>
              </a:rPr>
              <a:t>authentic, altered, or AI-generated</a:t>
            </a:r>
            <a:r>
              <a:rPr lang="en-US" sz="1600" dirty="0">
                <a:latin typeface="+mn-lt"/>
              </a:rPr>
              <a:t>, ensuring transparency and trust in digital media.</a:t>
            </a:r>
            <a:br>
              <a:rPr lang="en-US" sz="1600" dirty="0">
                <a:latin typeface="+mn-lt"/>
              </a:rPr>
            </a:br>
            <a:endParaRPr lang="en-IN" sz="1600" dirty="0">
              <a:latin typeface="+mn-lt"/>
            </a:endParaRPr>
          </a:p>
        </p:txBody>
      </p:sp>
      <p:sp>
        <p:nvSpPr>
          <p:cNvPr id="3" name="Subtitle 2">
            <a:extLst>
              <a:ext uri="{FF2B5EF4-FFF2-40B4-BE49-F238E27FC236}">
                <a16:creationId xmlns:a16="http://schemas.microsoft.com/office/drawing/2014/main" id="{0B304A5B-A54F-4A67-93A1-9C57D7288ED8}"/>
              </a:ext>
            </a:extLst>
          </p:cNvPr>
          <p:cNvSpPr>
            <a:spLocks noGrp="1"/>
          </p:cNvSpPr>
          <p:nvPr>
            <p:ph sz="half" idx="1"/>
          </p:nvPr>
        </p:nvSpPr>
        <p:spPr>
          <a:xfrm>
            <a:off x="838199" y="3289955"/>
            <a:ext cx="6420439" cy="3403076"/>
          </a:xfrm>
        </p:spPr>
        <p:txBody>
          <a:bodyPr>
            <a:normAutofit fontScale="40000" lnSpcReduction="20000"/>
          </a:bodyPr>
          <a:lstStyle/>
          <a:p>
            <a:pPr algn="just">
              <a:lnSpc>
                <a:spcPct val="120000"/>
              </a:lnSpc>
            </a:pPr>
            <a:endParaRPr lang="en-US" dirty="0"/>
          </a:p>
          <a:p>
            <a:pPr marL="0" indent="0" algn="just">
              <a:lnSpc>
                <a:spcPct val="120000"/>
              </a:lnSpc>
              <a:buNone/>
            </a:pPr>
            <a:r>
              <a:rPr lang="en-US" sz="3500" b="1" dirty="0"/>
              <a:t>Technologies/Tools Used :</a:t>
            </a:r>
          </a:p>
          <a:p>
            <a:pPr algn="just">
              <a:lnSpc>
                <a:spcPct val="120000"/>
              </a:lnSpc>
            </a:pPr>
            <a:r>
              <a:rPr lang="en-US" sz="3500" b="1" dirty="0"/>
              <a:t>Blockchain (e.g., Ethereum / Hyperledger / Polygon)</a:t>
            </a:r>
            <a:r>
              <a:rPr lang="en-US" sz="3500" dirty="0"/>
              <a:t> – for immutable record keeping.</a:t>
            </a:r>
          </a:p>
          <a:p>
            <a:pPr algn="just">
              <a:lnSpc>
                <a:spcPct val="120000"/>
              </a:lnSpc>
            </a:pPr>
            <a:r>
              <a:rPr lang="en-US" sz="3500" b="1" dirty="0"/>
              <a:t>Artificial Intelligence (AI)</a:t>
            </a:r>
            <a:r>
              <a:rPr lang="en-US" sz="3500" dirty="0"/>
              <a:t> – for real vs. fake content classification.</a:t>
            </a:r>
          </a:p>
          <a:p>
            <a:pPr algn="just">
              <a:lnSpc>
                <a:spcPct val="120000"/>
              </a:lnSpc>
            </a:pPr>
            <a:r>
              <a:rPr lang="en-US" sz="3500" b="1" dirty="0"/>
              <a:t>Machine Learning (Python, TensorFlow, </a:t>
            </a:r>
            <a:r>
              <a:rPr lang="en-US" sz="3500" b="1" dirty="0" err="1"/>
              <a:t>PyTorch</a:t>
            </a:r>
            <a:r>
              <a:rPr lang="en-US" sz="3500" b="1" dirty="0"/>
              <a:t>)</a:t>
            </a:r>
            <a:r>
              <a:rPr lang="en-US" sz="3500" dirty="0"/>
              <a:t> – to train deepfake detection models.</a:t>
            </a:r>
          </a:p>
          <a:p>
            <a:pPr algn="just"/>
            <a:r>
              <a:rPr lang="en-US" sz="3500" b="1" dirty="0"/>
              <a:t>Smart Contracts (Solidity)</a:t>
            </a:r>
            <a:r>
              <a:rPr lang="en-US" sz="3500" dirty="0"/>
              <a:t> – to automate verification and anchoring of hashes.</a:t>
            </a:r>
          </a:p>
          <a:p>
            <a:pPr algn="just"/>
            <a:r>
              <a:rPr lang="en-US" sz="3500" b="1" dirty="0"/>
              <a:t>IPFS / Cloud Storage</a:t>
            </a:r>
            <a:r>
              <a:rPr lang="en-US" sz="3500" dirty="0"/>
              <a:t> – for off-chain storage of media files and metadata.</a:t>
            </a:r>
          </a:p>
          <a:p>
            <a:pPr algn="just"/>
            <a:r>
              <a:rPr lang="en-US" sz="3500" b="1" dirty="0"/>
              <a:t>Web Interface (React / Node.js)</a:t>
            </a:r>
            <a:r>
              <a:rPr lang="en-US" sz="3500" dirty="0"/>
              <a:t> – for user verification dashboard.</a:t>
            </a:r>
            <a:endParaRPr lang="en-IN" sz="3500" dirty="0">
              <a:latin typeface="Times New Roman" panose="02020603050405020304" pitchFamily="18" charset="0"/>
              <a:cs typeface="Times New Roman" panose="02020603050405020304" pitchFamily="18" charset="0"/>
            </a:endParaRPr>
          </a:p>
          <a:p>
            <a:pPr marL="0" indent="0" algn="l">
              <a:buNone/>
            </a:pPr>
            <a:r>
              <a:rPr lang="en-IN" sz="3500" dirty="0">
                <a:latin typeface="Comic Sans MS" panose="030F0702030302020204" pitchFamily="66" charset="0"/>
              </a:rPr>
              <a:t>    </a:t>
            </a:r>
          </a:p>
        </p:txBody>
      </p:sp>
      <p:sp>
        <p:nvSpPr>
          <p:cNvPr id="4" name="Content Placeholder 3">
            <a:extLst>
              <a:ext uri="{FF2B5EF4-FFF2-40B4-BE49-F238E27FC236}">
                <a16:creationId xmlns:a16="http://schemas.microsoft.com/office/drawing/2014/main" id="{CAE532AA-D051-2195-8FAA-F99E1B97F6BA}"/>
              </a:ext>
            </a:extLst>
          </p:cNvPr>
          <p:cNvSpPr>
            <a:spLocks noGrp="1"/>
          </p:cNvSpPr>
          <p:nvPr>
            <p:ph sz="half" idx="2"/>
          </p:nvPr>
        </p:nvSpPr>
        <p:spPr>
          <a:xfrm>
            <a:off x="7692272" y="2369975"/>
            <a:ext cx="3661528" cy="3806987"/>
          </a:xfrm>
        </p:spPr>
        <p:txBody>
          <a:bodyPr>
            <a:normAutofit fontScale="40000" lnSpcReduction="20000"/>
          </a:bodyPr>
          <a:lstStyle/>
          <a:p>
            <a:pPr marL="0" indent="0">
              <a:buNone/>
            </a:pPr>
            <a:endParaRPr lang="en-IN" dirty="0"/>
          </a:p>
          <a:p>
            <a:pPr marL="0" indent="0">
              <a:buNone/>
            </a:pPr>
            <a:endParaRPr lang="en-IN" dirty="0"/>
          </a:p>
        </p:txBody>
      </p:sp>
      <p:pic>
        <p:nvPicPr>
          <p:cNvPr id="6146" name="Picture 6145">
            <a:extLst>
              <a:ext uri="{FF2B5EF4-FFF2-40B4-BE49-F238E27FC236}">
                <a16:creationId xmlns:a16="http://schemas.microsoft.com/office/drawing/2014/main" id="{3885D099-C9C0-944A-F5AE-D6AAED982498}"/>
              </a:ext>
            </a:extLst>
          </p:cNvPr>
          <p:cNvPicPr>
            <a:picLocks noChangeAspect="1"/>
          </p:cNvPicPr>
          <p:nvPr/>
        </p:nvPicPr>
        <p:blipFill>
          <a:blip r:embed="rId2"/>
          <a:stretch>
            <a:fillRect/>
          </a:stretch>
        </p:blipFill>
        <p:spPr>
          <a:xfrm>
            <a:off x="6890994" y="763571"/>
            <a:ext cx="5301006" cy="5236826"/>
          </a:xfrm>
          <a:prstGeom prst="rect">
            <a:avLst/>
          </a:prstGeom>
        </p:spPr>
      </p:pic>
    </p:spTree>
    <p:extLst>
      <p:ext uri="{BB962C8B-B14F-4D97-AF65-F5344CB8AC3E}">
        <p14:creationId xmlns:p14="http://schemas.microsoft.com/office/powerpoint/2010/main" val="240353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914400" y="699796"/>
            <a:ext cx="10347649" cy="5458408"/>
          </a:xfrm>
        </p:spPr>
        <p:txBody>
          <a:bodyPr/>
          <a:lstStyle/>
          <a:p>
            <a:pPr algn="l"/>
            <a:r>
              <a:rPr lang="en-IN" sz="2000" b="1" dirty="0">
                <a:latin typeface="Times New Roman" panose="02020603050405020304" pitchFamily="18" charset="0"/>
                <a:cs typeface="Times New Roman" panose="02020603050405020304" pitchFamily="18" charset="0"/>
              </a:rPr>
              <a:t>6. </a:t>
            </a:r>
            <a:r>
              <a:rPr lang="en-US" sz="2000" b="1" dirty="0">
                <a:latin typeface="Times New Roman" panose="02020603050405020304" pitchFamily="18" charset="0"/>
                <a:cs typeface="Times New Roman" panose="02020603050405020304" pitchFamily="18" charset="0"/>
              </a:rPr>
              <a:t>COMPARATIVE TABLE: EXISTING VS PROPOSED SYSTEMS</a:t>
            </a:r>
            <a:r>
              <a:rPr lang="en-IN" sz="2000" b="1" dirty="0">
                <a:latin typeface="Times New Roman" panose="02020603050405020304" pitchFamily="18" charset="0"/>
                <a:cs typeface="Times New Roman" panose="02020603050405020304" pitchFamily="18" charset="0"/>
              </a:rPr>
              <a:t>: </a:t>
            </a:r>
          </a:p>
          <a:p>
            <a:pPr algn="l"/>
            <a:endParaRPr lang="en-IN" dirty="0">
              <a:latin typeface="Times New Roman" panose="02020603050405020304" pitchFamily="18" charset="0"/>
              <a:cs typeface="Times New Roman" panose="02020603050405020304" pitchFamily="18" charset="0"/>
            </a:endParaRPr>
          </a:p>
          <a:p>
            <a:pPr algn="l"/>
            <a:endParaRPr lang="en-IN" dirty="0">
              <a:latin typeface="Comic Sans MS" panose="030F0702030302020204" pitchFamily="66" charset="0"/>
            </a:endParaRPr>
          </a:p>
          <a:p>
            <a:pPr algn="l"/>
            <a:endParaRPr lang="en-IN" dirty="0">
              <a:latin typeface="Comic Sans MS" panose="030F0702030302020204" pitchFamily="66" charset="0"/>
            </a:endParaRPr>
          </a:p>
        </p:txBody>
      </p:sp>
      <p:graphicFrame>
        <p:nvGraphicFramePr>
          <p:cNvPr id="8" name="Table 7">
            <a:extLst>
              <a:ext uri="{FF2B5EF4-FFF2-40B4-BE49-F238E27FC236}">
                <a16:creationId xmlns:a16="http://schemas.microsoft.com/office/drawing/2014/main" id="{E3F5B009-300F-A37C-5E53-0FC785F1037A}"/>
              </a:ext>
            </a:extLst>
          </p:cNvPr>
          <p:cNvGraphicFramePr>
            <a:graphicFrameLocks noGrp="1"/>
          </p:cNvGraphicFramePr>
          <p:nvPr>
            <p:extLst>
              <p:ext uri="{D42A27DB-BD31-4B8C-83A1-F6EECF244321}">
                <p14:modId xmlns:p14="http://schemas.microsoft.com/office/powerpoint/2010/main" val="1284438428"/>
              </p:ext>
            </p:extLst>
          </p:nvPr>
        </p:nvGraphicFramePr>
        <p:xfrm>
          <a:off x="1018096" y="1338606"/>
          <a:ext cx="10011267" cy="4819596"/>
        </p:xfrm>
        <a:graphic>
          <a:graphicData uri="http://schemas.openxmlformats.org/drawingml/2006/table">
            <a:tbl>
              <a:tblPr firstRow="1" firstCol="1" bandRow="1">
                <a:tableStyleId>{5C22544A-7EE6-4342-B048-85BDC9FD1C3A}</a:tableStyleId>
              </a:tblPr>
              <a:tblGrid>
                <a:gridCol w="3337089">
                  <a:extLst>
                    <a:ext uri="{9D8B030D-6E8A-4147-A177-3AD203B41FA5}">
                      <a16:colId xmlns:a16="http://schemas.microsoft.com/office/drawing/2014/main" val="1228173047"/>
                    </a:ext>
                  </a:extLst>
                </a:gridCol>
                <a:gridCol w="3337089">
                  <a:extLst>
                    <a:ext uri="{9D8B030D-6E8A-4147-A177-3AD203B41FA5}">
                      <a16:colId xmlns:a16="http://schemas.microsoft.com/office/drawing/2014/main" val="2660098144"/>
                    </a:ext>
                  </a:extLst>
                </a:gridCol>
                <a:gridCol w="3337089">
                  <a:extLst>
                    <a:ext uri="{9D8B030D-6E8A-4147-A177-3AD203B41FA5}">
                      <a16:colId xmlns:a16="http://schemas.microsoft.com/office/drawing/2014/main" val="96857512"/>
                    </a:ext>
                  </a:extLst>
                </a:gridCol>
              </a:tblGrid>
              <a:tr h="546130">
                <a:tc>
                  <a:txBody>
                    <a:bodyPr/>
                    <a:lstStyle/>
                    <a:p>
                      <a:pPr>
                        <a:lnSpc>
                          <a:spcPct val="107000"/>
                        </a:lnSpc>
                        <a:spcAft>
                          <a:spcPts val="800"/>
                        </a:spcAft>
                        <a:buNone/>
                      </a:pPr>
                      <a:r>
                        <a:rPr lang="en-IN" sz="1400" b="1" kern="100" dirty="0">
                          <a:effectLst/>
                        </a:rPr>
                        <a:t>Aspect</a:t>
                      </a: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Existing System</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Proposed System</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33680691"/>
                  </a:ext>
                </a:extLst>
              </a:tr>
              <a:tr h="1060402">
                <a:tc>
                  <a:txBody>
                    <a:bodyPr/>
                    <a:lstStyle/>
                    <a:p>
                      <a:pPr>
                        <a:lnSpc>
                          <a:spcPct val="107000"/>
                        </a:lnSpc>
                        <a:spcAft>
                          <a:spcPts val="800"/>
                        </a:spcAft>
                        <a:buNone/>
                      </a:pPr>
                      <a:r>
                        <a:rPr lang="en-IN" sz="1400" b="1" kern="100" dirty="0">
                          <a:effectLst/>
                        </a:rPr>
                        <a:t>Verification Method</a:t>
                      </a: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Uses only AI-based detection to identify fake or manipulated media.</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Combines Blockchain with AI for secure and transparent verification.</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59189457"/>
                  </a:ext>
                </a:extLst>
              </a:tr>
              <a:tr h="1060402">
                <a:tc>
                  <a:txBody>
                    <a:bodyPr/>
                    <a:lstStyle/>
                    <a:p>
                      <a:pPr>
                        <a:lnSpc>
                          <a:spcPct val="107000"/>
                        </a:lnSpc>
                        <a:spcAft>
                          <a:spcPts val="800"/>
                        </a:spcAft>
                        <a:buNone/>
                      </a:pPr>
                      <a:r>
                        <a:rPr lang="en-IN" sz="1400" b="1" kern="100" dirty="0">
                          <a:effectLst/>
                        </a:rPr>
                        <a:t>Data Management</a:t>
                      </a: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Stores data in centralized databases, which can be altered or lost.</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Uses decentralized blockchain for tamper-proof and permanent storage.</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6247277"/>
                  </a:ext>
                </a:extLst>
              </a:tr>
              <a:tr h="1060402">
                <a:tc>
                  <a:txBody>
                    <a:bodyPr/>
                    <a:lstStyle/>
                    <a:p>
                      <a:pPr>
                        <a:lnSpc>
                          <a:spcPct val="107000"/>
                        </a:lnSpc>
                        <a:spcAft>
                          <a:spcPts val="800"/>
                        </a:spcAft>
                        <a:buNone/>
                      </a:pPr>
                      <a:r>
                        <a:rPr lang="en-IN" sz="1400" b="1" kern="100">
                          <a:effectLst/>
                        </a:rPr>
                        <a:t>Tools / Technologies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AI, Machine Learning, Computer Vision, Cloud Storage.</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Blockchain (Ethereum/Hyperledger), AI/ML (TensorFlow, PyTorch), Smart Contracts (Solidity), IPFS.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20058941"/>
                  </a:ext>
                </a:extLst>
              </a:tr>
              <a:tr h="546130">
                <a:tc>
                  <a:txBody>
                    <a:bodyPr/>
                    <a:lstStyle/>
                    <a:p>
                      <a:pPr>
                        <a:lnSpc>
                          <a:spcPct val="107000"/>
                        </a:lnSpc>
                        <a:spcAft>
                          <a:spcPts val="800"/>
                        </a:spcAft>
                        <a:buNone/>
                      </a:pPr>
                      <a:r>
                        <a:rPr lang="en-IN" sz="1400" b="1" kern="100">
                          <a:effectLst/>
                        </a:rPr>
                        <a:t>Advantages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Simple setup and quick detection.</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High authenticity, transparency, and data integrity.</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57615892"/>
                  </a:ext>
                </a:extLst>
              </a:tr>
              <a:tr h="546130">
                <a:tc>
                  <a:txBody>
                    <a:bodyPr/>
                    <a:lstStyle/>
                    <a:p>
                      <a:pPr>
                        <a:lnSpc>
                          <a:spcPct val="107000"/>
                        </a:lnSpc>
                        <a:spcAft>
                          <a:spcPts val="800"/>
                        </a:spcAft>
                        <a:buNone/>
                      </a:pPr>
                      <a:r>
                        <a:rPr lang="en-IN" sz="1400" b="1" kern="100">
                          <a:effectLst/>
                        </a:rPr>
                        <a:t>Limitations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Less reliable, prone to manipulation and data loss.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dirty="0">
                          <a:effectLst/>
                        </a:rPr>
                        <a:t>Higher implementation cost and complex integration process.</a:t>
                      </a: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97836940"/>
                  </a:ext>
                </a:extLst>
              </a:tr>
            </a:tbl>
          </a:graphicData>
        </a:graphic>
      </p:graphicFrame>
    </p:spTree>
    <p:extLst>
      <p:ext uri="{BB962C8B-B14F-4D97-AF65-F5344CB8AC3E}">
        <p14:creationId xmlns:p14="http://schemas.microsoft.com/office/powerpoint/2010/main" val="184146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839755" y="709127"/>
            <a:ext cx="10422294" cy="5290457"/>
          </a:xfrm>
        </p:spPr>
        <p:txBody>
          <a:bodyPr/>
          <a:lstStyle/>
          <a:p>
            <a:pPr algn="l"/>
            <a:r>
              <a:rPr lang="en-IN" sz="2000" b="1" dirty="0">
                <a:latin typeface="Times New Roman" panose="02020603050405020304" pitchFamily="18" charset="0"/>
                <a:cs typeface="Times New Roman" panose="02020603050405020304" pitchFamily="18" charset="0"/>
              </a:rPr>
              <a:t>7. FINDINGS FROM REFERENCE PAPERS:</a:t>
            </a:r>
          </a:p>
          <a:p>
            <a:pPr algn="l"/>
            <a:endParaRPr lang="en-IN" sz="2000" b="1"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IN" dirty="0">
              <a:latin typeface="Comic Sans MS" panose="030F0702030302020204" pitchFamily="66" charset="0"/>
            </a:endParaRPr>
          </a:p>
        </p:txBody>
      </p:sp>
      <p:graphicFrame>
        <p:nvGraphicFramePr>
          <p:cNvPr id="5" name="Table 4">
            <a:extLst>
              <a:ext uri="{FF2B5EF4-FFF2-40B4-BE49-F238E27FC236}">
                <a16:creationId xmlns:a16="http://schemas.microsoft.com/office/drawing/2014/main" id="{31A1D00C-5EE1-D0D3-E4BE-2C3C53144BAD}"/>
              </a:ext>
            </a:extLst>
          </p:cNvPr>
          <p:cNvGraphicFramePr>
            <a:graphicFrameLocks noGrp="1"/>
          </p:cNvGraphicFramePr>
          <p:nvPr>
            <p:extLst>
              <p:ext uri="{D42A27DB-BD31-4B8C-83A1-F6EECF244321}">
                <p14:modId xmlns:p14="http://schemas.microsoft.com/office/powerpoint/2010/main" val="1108815434"/>
              </p:ext>
            </p:extLst>
          </p:nvPr>
        </p:nvGraphicFramePr>
        <p:xfrm>
          <a:off x="838200" y="1404593"/>
          <a:ext cx="10515600" cy="474428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2599849667"/>
                    </a:ext>
                  </a:extLst>
                </a:gridCol>
                <a:gridCol w="3505200">
                  <a:extLst>
                    <a:ext uri="{9D8B030D-6E8A-4147-A177-3AD203B41FA5}">
                      <a16:colId xmlns:a16="http://schemas.microsoft.com/office/drawing/2014/main" val="2667839168"/>
                    </a:ext>
                  </a:extLst>
                </a:gridCol>
                <a:gridCol w="3505200">
                  <a:extLst>
                    <a:ext uri="{9D8B030D-6E8A-4147-A177-3AD203B41FA5}">
                      <a16:colId xmlns:a16="http://schemas.microsoft.com/office/drawing/2014/main" val="2274176544"/>
                    </a:ext>
                  </a:extLst>
                </a:gridCol>
              </a:tblGrid>
              <a:tr h="443045">
                <a:tc>
                  <a:txBody>
                    <a:bodyPr/>
                    <a:lstStyle/>
                    <a:p>
                      <a:pPr>
                        <a:lnSpc>
                          <a:spcPct val="107000"/>
                        </a:lnSpc>
                        <a:spcAft>
                          <a:spcPts val="800"/>
                        </a:spcAft>
                        <a:buNone/>
                      </a:pPr>
                      <a:r>
                        <a:rPr lang="en-IN" sz="1400" b="1" kern="100">
                          <a:effectLst/>
                        </a:rPr>
                        <a:t>Reference / Source</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Key Insights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Implications for Proposed System</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0212684"/>
                  </a:ext>
                </a:extLst>
              </a:tr>
              <a:tr h="860247">
                <a:tc>
                  <a:txBody>
                    <a:bodyPr/>
                    <a:lstStyle/>
                    <a:p>
                      <a:pPr>
                        <a:lnSpc>
                          <a:spcPct val="107000"/>
                        </a:lnSpc>
                        <a:spcAft>
                          <a:spcPts val="800"/>
                        </a:spcAft>
                        <a:buNone/>
                      </a:pPr>
                      <a:r>
                        <a:rPr lang="en-IN" sz="1400" b="1" kern="100">
                          <a:effectLst/>
                        </a:rPr>
                        <a:t>C2PA (Content Provenance and Authenticity Standard)</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Establishes a global framework for attaching verifiable provenance data to digital media.</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Adopt C2PA-style metadata for authenticity and interoperability.</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61408399"/>
                  </a:ext>
                </a:extLst>
              </a:tr>
              <a:tr h="860247">
                <a:tc>
                  <a:txBody>
                    <a:bodyPr/>
                    <a:lstStyle/>
                    <a:p>
                      <a:pPr>
                        <a:lnSpc>
                          <a:spcPct val="107000"/>
                        </a:lnSpc>
                        <a:spcAft>
                          <a:spcPts val="800"/>
                        </a:spcAft>
                        <a:buNone/>
                      </a:pPr>
                      <a:r>
                        <a:rPr lang="en-IN" sz="1400" b="1" kern="100" dirty="0">
                          <a:effectLst/>
                        </a:rPr>
                        <a:t>Deepfake Detection Review (2023)</a:t>
                      </a: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AI models can detect manipulated media but are prone to false results as deepfake quality improves.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Combine AI detection with blockchain verification to enhance reliability.</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03763550"/>
                  </a:ext>
                </a:extLst>
              </a:tr>
              <a:tr h="860247">
                <a:tc>
                  <a:txBody>
                    <a:bodyPr/>
                    <a:lstStyle/>
                    <a:p>
                      <a:pPr>
                        <a:lnSpc>
                          <a:spcPct val="107000"/>
                        </a:lnSpc>
                        <a:spcAft>
                          <a:spcPts val="800"/>
                        </a:spcAft>
                        <a:buNone/>
                      </a:pPr>
                      <a:r>
                        <a:rPr lang="en-IN" sz="1400" b="1" kern="100">
                          <a:effectLst/>
                        </a:rPr>
                        <a:t>Blockchain for Provenance (2024)</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Blockchain ensures data immutability but faces scalability and privacy challenges.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Use off-chain storage + blockchain anchoring for efficiency and privacy.</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68735347"/>
                  </a:ext>
                </a:extLst>
              </a:tr>
              <a:tr h="860247">
                <a:tc>
                  <a:txBody>
                    <a:bodyPr/>
                    <a:lstStyle/>
                    <a:p>
                      <a:pPr>
                        <a:lnSpc>
                          <a:spcPct val="107000"/>
                        </a:lnSpc>
                        <a:spcAft>
                          <a:spcPts val="800"/>
                        </a:spcAft>
                        <a:buNone/>
                      </a:pPr>
                      <a:r>
                        <a:rPr lang="en-IN" sz="1400" b="1" kern="100">
                          <a:effectLst/>
                        </a:rPr>
                        <a:t>AMP / Amber / Truepic Studies</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Real-world systems show the practicality of media authentication via blockchain.</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Implement a capture-to-verification chain with user-friendly validation.</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7039244"/>
                  </a:ext>
                </a:extLst>
              </a:tr>
              <a:tr h="860247">
                <a:tc>
                  <a:txBody>
                    <a:bodyPr/>
                    <a:lstStyle/>
                    <a:p>
                      <a:pPr>
                        <a:lnSpc>
                          <a:spcPct val="107000"/>
                        </a:lnSpc>
                        <a:spcAft>
                          <a:spcPts val="800"/>
                        </a:spcAft>
                        <a:buNone/>
                      </a:pPr>
                      <a:r>
                        <a:rPr lang="en-IN" sz="1400" b="1" kern="100">
                          <a:effectLst/>
                        </a:rPr>
                        <a:t>Numbers Protocol Implementation</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a:effectLst/>
                        </a:rPr>
                        <a:t>Highlights benefits of decentralized media registration and content tracking.</a:t>
                      </a:r>
                      <a:endParaRPr lang="en-IN"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400" b="1" kern="100" dirty="0">
                          <a:effectLst/>
                        </a:rPr>
                        <a:t>Use decentralized identifiers and IPFS for secure content referencing.</a:t>
                      </a:r>
                      <a:endParaRPr lang="en-IN"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60547109"/>
                  </a:ext>
                </a:extLst>
              </a:tr>
            </a:tbl>
          </a:graphicData>
        </a:graphic>
      </p:graphicFrame>
    </p:spTree>
    <p:extLst>
      <p:ext uri="{BB962C8B-B14F-4D97-AF65-F5344CB8AC3E}">
        <p14:creationId xmlns:p14="http://schemas.microsoft.com/office/powerpoint/2010/main" val="1184327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C76A78-A328-32D8-B5DB-1B852DEA813B}"/>
              </a:ext>
            </a:extLst>
          </p:cNvPr>
          <p:cNvSpPr>
            <a:spLocks noGrp="1"/>
          </p:cNvSpPr>
          <p:nvPr>
            <p:ph idx="1"/>
          </p:nvPr>
        </p:nvSpPr>
        <p:spPr>
          <a:xfrm>
            <a:off x="867746" y="429208"/>
            <a:ext cx="10524931" cy="5747756"/>
          </a:xfrm>
        </p:spPr>
        <p:txBody>
          <a:bodyPr/>
          <a:lstStyle/>
          <a:p>
            <a:pPr marL="0" indent="0">
              <a:buNone/>
            </a:pPr>
            <a:r>
              <a:rPr lang="en-US" sz="2000" b="1" dirty="0">
                <a:latin typeface="Times New Roman" panose="02020603050405020304" pitchFamily="18" charset="0"/>
                <a:cs typeface="Times New Roman" panose="02020603050405020304" pitchFamily="18" charset="0"/>
              </a:rPr>
              <a:t>8.</a:t>
            </a:r>
            <a:r>
              <a:rPr lang="en-IN" sz="2000" b="1" dirty="0">
                <a:latin typeface="Times New Roman" panose="02020603050405020304" pitchFamily="18" charset="0"/>
                <a:cs typeface="Times New Roman" panose="02020603050405020304" pitchFamily="18" charset="0"/>
              </a:rPr>
              <a:t> APPLICATIONS OF THE PROJECT</a:t>
            </a:r>
          </a:p>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97971C5B-BFCD-AEB8-14B0-0E90F5CE8FC4}"/>
              </a:ext>
            </a:extLst>
          </p:cNvPr>
          <p:cNvGraphicFramePr>
            <a:graphicFrameLocks noGrp="1"/>
          </p:cNvGraphicFramePr>
          <p:nvPr>
            <p:extLst>
              <p:ext uri="{D42A27DB-BD31-4B8C-83A1-F6EECF244321}">
                <p14:modId xmlns:p14="http://schemas.microsoft.com/office/powerpoint/2010/main" val="1486830962"/>
              </p:ext>
            </p:extLst>
          </p:nvPr>
        </p:nvGraphicFramePr>
        <p:xfrm>
          <a:off x="838200" y="1131216"/>
          <a:ext cx="10515600" cy="4653157"/>
        </p:xfrm>
        <a:graphic>
          <a:graphicData uri="http://schemas.openxmlformats.org/drawingml/2006/table">
            <a:tbl>
              <a:tblPr/>
              <a:tblGrid>
                <a:gridCol w="5257800">
                  <a:extLst>
                    <a:ext uri="{9D8B030D-6E8A-4147-A177-3AD203B41FA5}">
                      <a16:colId xmlns:a16="http://schemas.microsoft.com/office/drawing/2014/main" val="3937224471"/>
                    </a:ext>
                  </a:extLst>
                </a:gridCol>
                <a:gridCol w="5257800">
                  <a:extLst>
                    <a:ext uri="{9D8B030D-6E8A-4147-A177-3AD203B41FA5}">
                      <a16:colId xmlns:a16="http://schemas.microsoft.com/office/drawing/2014/main" val="3956273970"/>
                    </a:ext>
                  </a:extLst>
                </a:gridCol>
              </a:tblGrid>
              <a:tr h="477247">
                <a:tc>
                  <a:txBody>
                    <a:bodyPr/>
                    <a:lstStyle/>
                    <a:p>
                      <a:pPr>
                        <a:buNone/>
                      </a:pPr>
                      <a:r>
                        <a:rPr lang="en-IN" b="1" dirty="0"/>
                        <a:t>Real-World Use Case :</a:t>
                      </a:r>
                      <a:endParaRPr lang="en-IN" dirty="0"/>
                    </a:p>
                  </a:txBody>
                  <a:tcPr anchor="ctr">
                    <a:lnL>
                      <a:noFill/>
                    </a:lnL>
                    <a:lnR>
                      <a:noFill/>
                    </a:lnR>
                    <a:lnT>
                      <a:noFill/>
                    </a:lnT>
                    <a:lnB>
                      <a:noFill/>
                    </a:lnB>
                    <a:noFill/>
                  </a:tcPr>
                </a:tc>
                <a:tc>
                  <a:txBody>
                    <a:bodyPr/>
                    <a:lstStyle/>
                    <a:p>
                      <a:pPr>
                        <a:buNone/>
                      </a:pPr>
                      <a:r>
                        <a:rPr lang="en-IN" b="1" dirty="0"/>
                        <a:t>Benefits :</a:t>
                      </a:r>
                      <a:endParaRPr lang="en-IN" dirty="0"/>
                    </a:p>
                  </a:txBody>
                  <a:tcPr anchor="ctr">
                    <a:lnL>
                      <a:noFill/>
                    </a:lnL>
                    <a:lnR>
                      <a:noFill/>
                    </a:lnR>
                    <a:lnT>
                      <a:noFill/>
                    </a:lnT>
                    <a:lnB>
                      <a:noFill/>
                    </a:lnB>
                    <a:noFill/>
                  </a:tcPr>
                </a:tc>
                <a:extLst>
                  <a:ext uri="{0D108BD9-81ED-4DB2-BD59-A6C34878D82A}">
                    <a16:rowId xmlns:a16="http://schemas.microsoft.com/office/drawing/2014/main" val="211660677"/>
                  </a:ext>
                </a:extLst>
              </a:tr>
              <a:tr h="835182">
                <a:tc>
                  <a:txBody>
                    <a:bodyPr/>
                    <a:lstStyle/>
                    <a:p>
                      <a:pPr>
                        <a:buNone/>
                      </a:pPr>
                      <a:r>
                        <a:rPr lang="en-IN" dirty="0"/>
                        <a:t>📰 </a:t>
                      </a:r>
                      <a:r>
                        <a:rPr lang="en-IN" b="1" dirty="0"/>
                        <a:t>News &amp; Media Verification</a:t>
                      </a:r>
                      <a:endParaRPr lang="en-IN" dirty="0"/>
                    </a:p>
                  </a:txBody>
                  <a:tcPr anchor="ctr">
                    <a:lnL>
                      <a:noFill/>
                    </a:lnL>
                    <a:lnR>
                      <a:noFill/>
                    </a:lnR>
                    <a:lnT>
                      <a:noFill/>
                    </a:lnT>
                    <a:lnB>
                      <a:noFill/>
                    </a:lnB>
                    <a:noFill/>
                  </a:tcPr>
                </a:tc>
                <a:tc>
                  <a:txBody>
                    <a:bodyPr/>
                    <a:lstStyle/>
                    <a:p>
                      <a:pPr>
                        <a:buNone/>
                      </a:pPr>
                      <a:r>
                        <a:rPr lang="en-US"/>
                        <a:t>Prevents spread of fake news by ensuring that images and videos are authentic before publication.</a:t>
                      </a:r>
                    </a:p>
                  </a:txBody>
                  <a:tcPr anchor="ctr">
                    <a:lnL>
                      <a:noFill/>
                    </a:lnL>
                    <a:lnR>
                      <a:noFill/>
                    </a:lnR>
                    <a:lnT>
                      <a:noFill/>
                    </a:lnT>
                    <a:lnB>
                      <a:noFill/>
                    </a:lnB>
                    <a:noFill/>
                  </a:tcPr>
                </a:tc>
                <a:extLst>
                  <a:ext uri="{0D108BD9-81ED-4DB2-BD59-A6C34878D82A}">
                    <a16:rowId xmlns:a16="http://schemas.microsoft.com/office/drawing/2014/main" val="3156450950"/>
                  </a:ext>
                </a:extLst>
              </a:tr>
              <a:tr h="835182">
                <a:tc>
                  <a:txBody>
                    <a:bodyPr/>
                    <a:lstStyle/>
                    <a:p>
                      <a:pPr>
                        <a:buNone/>
                      </a:pPr>
                      <a:r>
                        <a:rPr lang="fr-FR" dirty="0"/>
                        <a:t>👮 </a:t>
                      </a:r>
                      <a:r>
                        <a:rPr lang="fr-FR" b="1" dirty="0"/>
                        <a:t>Law </a:t>
                      </a:r>
                      <a:r>
                        <a:rPr lang="fr-FR" b="1" dirty="0" err="1"/>
                        <a:t>Enforcement</a:t>
                      </a:r>
                      <a:r>
                        <a:rPr lang="fr-FR" b="1" dirty="0"/>
                        <a:t> &amp; Cybercrime Investigation</a:t>
                      </a:r>
                      <a:endParaRPr lang="fr-FR" dirty="0"/>
                    </a:p>
                  </a:txBody>
                  <a:tcPr anchor="ctr">
                    <a:lnL>
                      <a:noFill/>
                    </a:lnL>
                    <a:lnR>
                      <a:noFill/>
                    </a:lnR>
                    <a:lnT>
                      <a:noFill/>
                    </a:lnT>
                    <a:lnB>
                      <a:noFill/>
                    </a:lnB>
                    <a:noFill/>
                  </a:tcPr>
                </a:tc>
                <a:tc>
                  <a:txBody>
                    <a:bodyPr/>
                    <a:lstStyle/>
                    <a:p>
                      <a:pPr>
                        <a:buNone/>
                      </a:pPr>
                      <a:r>
                        <a:rPr lang="en-US" dirty="0"/>
                        <a:t>Provides tamper-proof digital evidence that can be legally trusted in investigations.</a:t>
                      </a:r>
                    </a:p>
                  </a:txBody>
                  <a:tcPr anchor="ctr">
                    <a:lnL>
                      <a:noFill/>
                    </a:lnL>
                    <a:lnR>
                      <a:noFill/>
                    </a:lnR>
                    <a:lnT>
                      <a:noFill/>
                    </a:lnT>
                    <a:lnB>
                      <a:noFill/>
                    </a:lnB>
                    <a:noFill/>
                  </a:tcPr>
                </a:tc>
                <a:extLst>
                  <a:ext uri="{0D108BD9-81ED-4DB2-BD59-A6C34878D82A}">
                    <a16:rowId xmlns:a16="http://schemas.microsoft.com/office/drawing/2014/main" val="2146343256"/>
                  </a:ext>
                </a:extLst>
              </a:tr>
              <a:tr h="835182">
                <a:tc>
                  <a:txBody>
                    <a:bodyPr/>
                    <a:lstStyle/>
                    <a:p>
                      <a:pPr>
                        <a:buNone/>
                      </a:pPr>
                      <a:r>
                        <a:rPr lang="en-IN"/>
                        <a:t>📱 </a:t>
                      </a:r>
                      <a:r>
                        <a:rPr lang="en-IN" b="1"/>
                        <a:t>Social Media Platforms</a:t>
                      </a:r>
                      <a:endParaRPr lang="en-IN"/>
                    </a:p>
                  </a:txBody>
                  <a:tcPr anchor="ctr">
                    <a:lnL>
                      <a:noFill/>
                    </a:lnL>
                    <a:lnR>
                      <a:noFill/>
                    </a:lnR>
                    <a:lnT>
                      <a:noFill/>
                    </a:lnT>
                    <a:lnB>
                      <a:noFill/>
                    </a:lnB>
                    <a:noFill/>
                  </a:tcPr>
                </a:tc>
                <a:tc>
                  <a:txBody>
                    <a:bodyPr/>
                    <a:lstStyle/>
                    <a:p>
                      <a:pPr>
                        <a:buNone/>
                      </a:pPr>
                      <a:r>
                        <a:rPr lang="en-US" dirty="0"/>
                        <a:t>Detects and flags AI-generated or manipulated posts, improving online content integrity.</a:t>
                      </a:r>
                    </a:p>
                  </a:txBody>
                  <a:tcPr anchor="ctr">
                    <a:lnL>
                      <a:noFill/>
                    </a:lnL>
                    <a:lnR>
                      <a:noFill/>
                    </a:lnR>
                    <a:lnT>
                      <a:noFill/>
                    </a:lnT>
                    <a:lnB>
                      <a:noFill/>
                    </a:lnB>
                    <a:noFill/>
                  </a:tcPr>
                </a:tc>
                <a:extLst>
                  <a:ext uri="{0D108BD9-81ED-4DB2-BD59-A6C34878D82A}">
                    <a16:rowId xmlns:a16="http://schemas.microsoft.com/office/drawing/2014/main" val="1267825721"/>
                  </a:ext>
                </a:extLst>
              </a:tr>
              <a:tr h="835182">
                <a:tc>
                  <a:txBody>
                    <a:bodyPr/>
                    <a:lstStyle/>
                    <a:p>
                      <a:pPr>
                        <a:buNone/>
                      </a:pPr>
                      <a:r>
                        <a:rPr lang="en-IN"/>
                        <a:t>🏛️ </a:t>
                      </a:r>
                      <a:r>
                        <a:rPr lang="en-IN" b="1"/>
                        <a:t>Government &amp; Legal Systems</a:t>
                      </a:r>
                      <a:endParaRPr lang="en-IN"/>
                    </a:p>
                  </a:txBody>
                  <a:tcPr anchor="ctr">
                    <a:lnL>
                      <a:noFill/>
                    </a:lnL>
                    <a:lnR>
                      <a:noFill/>
                    </a:lnR>
                    <a:lnT>
                      <a:noFill/>
                    </a:lnT>
                    <a:lnB>
                      <a:noFill/>
                    </a:lnB>
                    <a:noFill/>
                  </a:tcPr>
                </a:tc>
                <a:tc>
                  <a:txBody>
                    <a:bodyPr/>
                    <a:lstStyle/>
                    <a:p>
                      <a:pPr>
                        <a:buNone/>
                      </a:pPr>
                      <a:r>
                        <a:rPr lang="en-US"/>
                        <a:t>Ensures authenticity of official digital documents and citizen records, preventing forgery.</a:t>
                      </a:r>
                    </a:p>
                  </a:txBody>
                  <a:tcPr anchor="ctr">
                    <a:lnL>
                      <a:noFill/>
                    </a:lnL>
                    <a:lnR>
                      <a:noFill/>
                    </a:lnR>
                    <a:lnT>
                      <a:noFill/>
                    </a:lnT>
                    <a:lnB>
                      <a:noFill/>
                    </a:lnB>
                    <a:noFill/>
                  </a:tcPr>
                </a:tc>
                <a:extLst>
                  <a:ext uri="{0D108BD9-81ED-4DB2-BD59-A6C34878D82A}">
                    <a16:rowId xmlns:a16="http://schemas.microsoft.com/office/drawing/2014/main" val="2077127903"/>
                  </a:ext>
                </a:extLst>
              </a:tr>
              <a:tr h="835182">
                <a:tc>
                  <a:txBody>
                    <a:bodyPr/>
                    <a:lstStyle/>
                    <a:p>
                      <a:pPr>
                        <a:buNone/>
                      </a:pPr>
                      <a:r>
                        <a:rPr lang="en-IN" dirty="0"/>
                        <a:t>🎬 </a:t>
                      </a:r>
                      <a:r>
                        <a:rPr lang="en-IN" b="1" dirty="0"/>
                        <a:t>Entertainment &amp; Film Industry</a:t>
                      </a:r>
                      <a:endParaRPr lang="en-IN" dirty="0"/>
                    </a:p>
                  </a:txBody>
                  <a:tcPr anchor="ctr">
                    <a:lnL>
                      <a:noFill/>
                    </a:lnL>
                    <a:lnR>
                      <a:noFill/>
                    </a:lnR>
                    <a:lnT>
                      <a:noFill/>
                    </a:lnT>
                    <a:lnB>
                      <a:noFill/>
                    </a:lnB>
                    <a:noFill/>
                  </a:tcPr>
                </a:tc>
                <a:tc>
                  <a:txBody>
                    <a:bodyPr/>
                    <a:lstStyle/>
                    <a:p>
                      <a:pPr>
                        <a:buNone/>
                      </a:pPr>
                      <a:r>
                        <a:rPr lang="en-US" dirty="0"/>
                        <a:t>Protects artists and creators from misuse of their likeness or content through deepfakes.</a:t>
                      </a:r>
                    </a:p>
                  </a:txBody>
                  <a:tcPr anchor="ctr">
                    <a:lnL>
                      <a:noFill/>
                    </a:lnL>
                    <a:lnR>
                      <a:noFill/>
                    </a:lnR>
                    <a:lnT>
                      <a:noFill/>
                    </a:lnT>
                    <a:lnB>
                      <a:noFill/>
                    </a:lnB>
                    <a:noFill/>
                  </a:tcPr>
                </a:tc>
                <a:extLst>
                  <a:ext uri="{0D108BD9-81ED-4DB2-BD59-A6C34878D82A}">
                    <a16:rowId xmlns:a16="http://schemas.microsoft.com/office/drawing/2014/main" val="831560620"/>
                  </a:ext>
                </a:extLst>
              </a:tr>
            </a:tbl>
          </a:graphicData>
        </a:graphic>
      </p:graphicFrame>
    </p:spTree>
    <p:extLst>
      <p:ext uri="{BB962C8B-B14F-4D97-AF65-F5344CB8AC3E}">
        <p14:creationId xmlns:p14="http://schemas.microsoft.com/office/powerpoint/2010/main" val="3661928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86907E-5E9D-A498-F4BE-42E30E75E7B6}"/>
              </a:ext>
            </a:extLst>
          </p:cNvPr>
          <p:cNvSpPr>
            <a:spLocks noGrp="1"/>
          </p:cNvSpPr>
          <p:nvPr>
            <p:ph sz="half" idx="1"/>
          </p:nvPr>
        </p:nvSpPr>
        <p:spPr>
          <a:xfrm>
            <a:off x="838200" y="735292"/>
            <a:ext cx="4962427" cy="5938886"/>
          </a:xfrm>
        </p:spPr>
        <p:txBody>
          <a:bodyPr>
            <a:normAutofit fontScale="62500" lnSpcReduction="20000"/>
          </a:bodyPr>
          <a:lstStyle/>
          <a:p>
            <a:pPr marL="0" indent="0">
              <a:buNone/>
            </a:pPr>
            <a:r>
              <a:rPr lang="en-US" sz="3800" b="1" dirty="0">
                <a:latin typeface="Times New Roman" panose="02020603050405020304" pitchFamily="18" charset="0"/>
                <a:cs typeface="Times New Roman" panose="02020603050405020304" pitchFamily="18" charset="0"/>
              </a:rPr>
              <a:t>9. </a:t>
            </a:r>
            <a:r>
              <a:rPr lang="en-IN" sz="3800" b="1" dirty="0">
                <a:latin typeface="Times New Roman" panose="02020603050405020304" pitchFamily="18" charset="0"/>
                <a:cs typeface="Times New Roman" panose="02020603050405020304" pitchFamily="18" charset="0"/>
              </a:rPr>
              <a:t>NOVELTY AND INNOVATION</a:t>
            </a:r>
          </a:p>
          <a:p>
            <a:pPr marL="0" indent="0">
              <a:buNone/>
            </a:pPr>
            <a:endParaRPr lang="en-IN" sz="2900" dirty="0">
              <a:latin typeface="Times New Roman" panose="02020603050405020304" pitchFamily="18" charset="0"/>
              <a:cs typeface="Times New Roman" panose="02020603050405020304" pitchFamily="18" charset="0"/>
            </a:endParaRPr>
          </a:p>
          <a:p>
            <a:pPr marL="0" indent="0">
              <a:buNone/>
            </a:pPr>
            <a:endParaRPr lang="en-IN" sz="2900" dirty="0">
              <a:latin typeface="Times New Roman" panose="02020603050405020304" pitchFamily="18" charset="0"/>
              <a:cs typeface="Times New Roman" panose="02020603050405020304" pitchFamily="18" charset="0"/>
            </a:endParaRPr>
          </a:p>
          <a:p>
            <a:pPr marL="0" indent="0">
              <a:lnSpc>
                <a:spcPct val="120000"/>
              </a:lnSpc>
              <a:buNone/>
            </a:pPr>
            <a:r>
              <a:rPr lang="en-IN" sz="3200" b="1" dirty="0"/>
              <a:t>Originality and Improvements :</a:t>
            </a:r>
          </a:p>
          <a:p>
            <a:pPr>
              <a:lnSpc>
                <a:spcPct val="120000"/>
              </a:lnSpc>
            </a:pPr>
            <a:r>
              <a:rPr lang="en-IN" sz="2900" dirty="0"/>
              <a:t>💡 Integrates </a:t>
            </a:r>
            <a:r>
              <a:rPr lang="en-IN" sz="2900" b="1" dirty="0"/>
              <a:t>Blockchain and AI</a:t>
            </a:r>
            <a:r>
              <a:rPr lang="en-IN" sz="2900" dirty="0"/>
              <a:t> to create a </a:t>
            </a:r>
            <a:r>
              <a:rPr lang="en-IN" sz="2900" b="1" dirty="0"/>
              <a:t>hybrid verification framework</a:t>
            </a:r>
            <a:r>
              <a:rPr lang="en-IN" sz="2900" dirty="0"/>
              <a:t>, unlike existing systems that rely on AI detection alone.</a:t>
            </a:r>
          </a:p>
          <a:p>
            <a:pPr>
              <a:lnSpc>
                <a:spcPct val="120000"/>
              </a:lnSpc>
            </a:pPr>
            <a:r>
              <a:rPr lang="en-IN" sz="2900" dirty="0"/>
              <a:t>🔐 Ensures </a:t>
            </a:r>
            <a:r>
              <a:rPr lang="en-IN" sz="2900" b="1" dirty="0"/>
              <a:t>tamper-proof authenticity</a:t>
            </a:r>
            <a:r>
              <a:rPr lang="en-IN" sz="2900" dirty="0"/>
              <a:t> of media through </a:t>
            </a:r>
            <a:r>
              <a:rPr lang="en-IN" sz="2900" b="1" dirty="0"/>
              <a:t>immutable blockchain records</a:t>
            </a:r>
            <a:r>
              <a:rPr lang="en-IN" sz="2900" dirty="0"/>
              <a:t>.</a:t>
            </a:r>
          </a:p>
          <a:p>
            <a:pPr>
              <a:lnSpc>
                <a:spcPct val="120000"/>
              </a:lnSpc>
            </a:pPr>
            <a:r>
              <a:rPr lang="en-IN" sz="2900" dirty="0"/>
              <a:t>🤖 Enhances </a:t>
            </a:r>
            <a:r>
              <a:rPr lang="en-IN" sz="2900" b="1" dirty="0"/>
              <a:t>detection accuracy</a:t>
            </a:r>
            <a:r>
              <a:rPr lang="en-IN" sz="2900" dirty="0"/>
              <a:t> by cross-verifying AI results with blockchain-stored provenance data.</a:t>
            </a:r>
          </a:p>
          <a:p>
            <a:pPr>
              <a:lnSpc>
                <a:spcPct val="120000"/>
              </a:lnSpc>
            </a:pPr>
            <a:r>
              <a:rPr lang="en-IN" sz="2900" dirty="0"/>
              <a:t>🌐 Provides </a:t>
            </a:r>
            <a:r>
              <a:rPr lang="en-IN" sz="2900" b="1" dirty="0"/>
              <a:t>end-to-end traceability</a:t>
            </a:r>
            <a:r>
              <a:rPr lang="en-IN" sz="2900" dirty="0"/>
              <a:t> — from media creation to final verification — improving transparency.</a:t>
            </a:r>
          </a:p>
          <a:p>
            <a:pPr marL="0" indent="0">
              <a:buNone/>
            </a:pPr>
            <a:br>
              <a:rPr lang="en-IN" sz="2200" dirty="0"/>
            </a:br>
            <a:endParaRPr lang="en-IN" sz="2200" dirty="0"/>
          </a:p>
          <a:p>
            <a:pPr marL="0" indent="0">
              <a:buNone/>
            </a:pPr>
            <a:endParaRPr lang="en-IN" sz="2400" dirty="0">
              <a:latin typeface="Comic Sans MS" panose="030F0702030302020204" pitchFamily="66" charset="0"/>
            </a:endParaRPr>
          </a:p>
        </p:txBody>
      </p:sp>
      <p:sp>
        <p:nvSpPr>
          <p:cNvPr id="4" name="Content Placeholder 3">
            <a:extLst>
              <a:ext uri="{FF2B5EF4-FFF2-40B4-BE49-F238E27FC236}">
                <a16:creationId xmlns:a16="http://schemas.microsoft.com/office/drawing/2014/main" id="{D0D21D66-DEBC-8BB0-6DD4-FCA2E5729DE3}"/>
              </a:ext>
            </a:extLst>
          </p:cNvPr>
          <p:cNvSpPr>
            <a:spLocks noGrp="1"/>
          </p:cNvSpPr>
          <p:nvPr>
            <p:ph sz="half" idx="2"/>
          </p:nvPr>
        </p:nvSpPr>
        <p:spPr>
          <a:xfrm>
            <a:off x="6391372" y="1564850"/>
            <a:ext cx="4962427" cy="4612114"/>
          </a:xfrm>
        </p:spPr>
        <p:txBody>
          <a:bodyPr>
            <a:normAutofit fontScale="62500" lnSpcReduction="20000"/>
          </a:bodyPr>
          <a:lstStyle/>
          <a:p>
            <a:pPr marL="0" indent="0">
              <a:buNone/>
            </a:pPr>
            <a:endParaRPr lang="en-IN" sz="2900" b="1" dirty="0"/>
          </a:p>
          <a:p>
            <a:pPr marL="0" indent="0">
              <a:buNone/>
            </a:pPr>
            <a:r>
              <a:rPr lang="en-IN" sz="2900" b="1" dirty="0"/>
              <a:t>Add-ons and New Aspects Introduced :</a:t>
            </a:r>
          </a:p>
          <a:p>
            <a:pPr>
              <a:lnSpc>
                <a:spcPct val="120000"/>
              </a:lnSpc>
            </a:pPr>
            <a:r>
              <a:rPr lang="en-IN" sz="2900" dirty="0"/>
              <a:t>⚙️ </a:t>
            </a:r>
            <a:r>
              <a:rPr lang="en-IN" sz="2900" b="1" dirty="0"/>
              <a:t>Smart Contract Automation</a:t>
            </a:r>
            <a:r>
              <a:rPr lang="en-IN" sz="2900" dirty="0"/>
              <a:t> – Automatically records, validates, and timestamps media authenticity on the blockchain.</a:t>
            </a:r>
          </a:p>
          <a:p>
            <a:pPr>
              <a:lnSpc>
                <a:spcPct val="120000"/>
              </a:lnSpc>
            </a:pPr>
            <a:r>
              <a:rPr lang="en-IN" sz="2900" dirty="0"/>
              <a:t>☁️ </a:t>
            </a:r>
            <a:r>
              <a:rPr lang="en-IN" sz="2900" b="1" dirty="0"/>
              <a:t>Decentralized Storage (IPFS)</a:t>
            </a:r>
            <a:r>
              <a:rPr lang="en-IN" sz="2900" dirty="0"/>
              <a:t> – Securely stores metadata and verification reports without central control.</a:t>
            </a:r>
          </a:p>
          <a:p>
            <a:pPr>
              <a:lnSpc>
                <a:spcPct val="120000"/>
              </a:lnSpc>
            </a:pPr>
            <a:r>
              <a:rPr lang="en-IN" sz="2900" dirty="0"/>
              <a:t>📱 </a:t>
            </a:r>
            <a:r>
              <a:rPr lang="en-IN" sz="2900" b="1" dirty="0"/>
              <a:t>User-Friendly Verification Interface</a:t>
            </a:r>
            <a:r>
              <a:rPr lang="en-IN" sz="2900" dirty="0"/>
              <a:t> – Allows anyone to check if a media file is real or AI-generated.</a:t>
            </a:r>
          </a:p>
          <a:p>
            <a:pPr>
              <a:lnSpc>
                <a:spcPct val="120000"/>
              </a:lnSpc>
            </a:pPr>
            <a:r>
              <a:rPr lang="en-IN" sz="2900" dirty="0"/>
              <a:t>🔎 </a:t>
            </a:r>
            <a:r>
              <a:rPr lang="en-IN" sz="2900" b="1" dirty="0"/>
              <a:t>AI + Blockchain Fusion Approach</a:t>
            </a:r>
            <a:r>
              <a:rPr lang="en-IN" sz="2900" dirty="0"/>
              <a:t> – A novel combination that strengthens both accuracy and security in media verification</a:t>
            </a:r>
            <a:r>
              <a:rPr lang="en-IN" sz="2600" dirty="0"/>
              <a:t>.</a:t>
            </a:r>
          </a:p>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15269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5ABC7C-F8CE-E99F-0F4A-5787338ED9AE}"/>
              </a:ext>
            </a:extLst>
          </p:cNvPr>
          <p:cNvSpPr>
            <a:spLocks noGrp="1"/>
          </p:cNvSpPr>
          <p:nvPr>
            <p:ph sz="half" idx="1"/>
          </p:nvPr>
        </p:nvSpPr>
        <p:spPr>
          <a:xfrm>
            <a:off x="735291" y="964884"/>
            <a:ext cx="5322216" cy="5499570"/>
          </a:xfrm>
        </p:spPr>
        <p:txBody>
          <a:bodyPr>
            <a:normAutofit fontScale="92500" lnSpcReduction="10000"/>
          </a:bodyPr>
          <a:lstStyle/>
          <a:p>
            <a:pPr marL="0" indent="0">
              <a:buNone/>
            </a:pPr>
            <a:r>
              <a:rPr lang="en-US" sz="2400" b="1" dirty="0">
                <a:latin typeface="Times New Roman" panose="02020603050405020304" pitchFamily="18" charset="0"/>
                <a:cs typeface="Times New Roman" panose="02020603050405020304" pitchFamily="18" charset="0"/>
              </a:rPr>
              <a:t>10.</a:t>
            </a:r>
            <a:r>
              <a:rPr lang="en-IN" sz="2400" b="1" dirty="0">
                <a:latin typeface="Times New Roman" panose="02020603050405020304" pitchFamily="18" charset="0"/>
                <a:cs typeface="Times New Roman" panose="02020603050405020304" pitchFamily="18" charset="0"/>
              </a:rPr>
              <a:t> IMPLEMENTATION DETAILS &amp;  ROADMAP/BLUEPRINT</a:t>
            </a:r>
          </a:p>
          <a:p>
            <a:pPr marL="0" indent="0">
              <a:buNone/>
            </a:pPr>
            <a:endParaRPr lang="en-IN" sz="2000" b="1" dirty="0">
              <a:latin typeface="Times New Roman" panose="02020603050405020304" pitchFamily="18" charset="0"/>
              <a:cs typeface="Times New Roman" panose="02020603050405020304" pitchFamily="18" charset="0"/>
            </a:endParaRPr>
          </a:p>
          <a:p>
            <a:pPr marL="0" indent="0">
              <a:buNone/>
            </a:pPr>
            <a:r>
              <a:rPr lang="en-IN" sz="1800" b="1" dirty="0"/>
              <a:t>Current / Planned Implementation Details :</a:t>
            </a:r>
          </a:p>
          <a:p>
            <a:r>
              <a:rPr lang="en-IN" sz="1800" dirty="0"/>
              <a:t>⚙️ </a:t>
            </a:r>
            <a:r>
              <a:rPr lang="en-IN" sz="1800" b="1" dirty="0"/>
              <a:t>Phase 1 – System Design:</a:t>
            </a:r>
            <a:r>
              <a:rPr lang="en-IN" sz="1800" dirty="0"/>
              <a:t> Defined the architecture combining </a:t>
            </a:r>
            <a:r>
              <a:rPr lang="en-IN" sz="1800" b="1" dirty="0"/>
              <a:t>Blockchain</a:t>
            </a:r>
            <a:r>
              <a:rPr lang="en-IN" sz="1800" dirty="0"/>
              <a:t> for immutability and </a:t>
            </a:r>
            <a:r>
              <a:rPr lang="en-IN" sz="1800" b="1" dirty="0"/>
              <a:t>AI</a:t>
            </a:r>
            <a:r>
              <a:rPr lang="en-IN" sz="1800" dirty="0"/>
              <a:t> for media verification.</a:t>
            </a:r>
          </a:p>
          <a:p>
            <a:r>
              <a:rPr lang="en-IN" sz="1800" dirty="0"/>
              <a:t>🧠 </a:t>
            </a:r>
            <a:r>
              <a:rPr lang="en-IN" sz="1800" b="1" dirty="0"/>
              <a:t>Phase 2 – AI Module Development:</a:t>
            </a:r>
            <a:r>
              <a:rPr lang="en-IN" sz="1800" dirty="0"/>
              <a:t> Training deepfake detection models using </a:t>
            </a:r>
            <a:r>
              <a:rPr lang="en-IN" sz="1800" b="1" dirty="0"/>
              <a:t>TensorFlow/</a:t>
            </a:r>
            <a:r>
              <a:rPr lang="en-IN" sz="1800" b="1" dirty="0" err="1"/>
              <a:t>PyTorch</a:t>
            </a:r>
            <a:r>
              <a:rPr lang="en-IN" sz="1800" dirty="0"/>
              <a:t> for identifying manipulated content.</a:t>
            </a:r>
          </a:p>
          <a:p>
            <a:r>
              <a:rPr lang="en-IN" sz="1800" dirty="0"/>
              <a:t>⛓️ </a:t>
            </a:r>
            <a:r>
              <a:rPr lang="en-IN" sz="1800" b="1" dirty="0"/>
              <a:t>Phase 3 – Blockchain Integration:</a:t>
            </a:r>
            <a:r>
              <a:rPr lang="en-IN" sz="1800" dirty="0"/>
              <a:t> Implementing </a:t>
            </a:r>
            <a:r>
              <a:rPr lang="en-IN" sz="1800" b="1" dirty="0"/>
              <a:t>Smart Contracts (Solidity)</a:t>
            </a:r>
            <a:r>
              <a:rPr lang="en-IN" sz="1800" dirty="0"/>
              <a:t> and </a:t>
            </a:r>
            <a:r>
              <a:rPr lang="en-IN" sz="1800" b="1" dirty="0"/>
              <a:t>IPFS</a:t>
            </a:r>
            <a:r>
              <a:rPr lang="en-IN" sz="1800" dirty="0"/>
              <a:t> for secure and decentralized media storage.</a:t>
            </a:r>
          </a:p>
          <a:p>
            <a:r>
              <a:rPr lang="en-IN" sz="1800" dirty="0"/>
              <a:t>💻 </a:t>
            </a:r>
            <a:r>
              <a:rPr lang="en-IN" sz="1800" b="1" dirty="0"/>
              <a:t>Phase 4 – Web Interface Development:</a:t>
            </a:r>
            <a:r>
              <a:rPr lang="en-IN" sz="1800" dirty="0"/>
              <a:t> Building a </a:t>
            </a:r>
            <a:r>
              <a:rPr lang="en-IN" sz="1800" b="1" dirty="0"/>
              <a:t>React + Node.js</a:t>
            </a:r>
            <a:r>
              <a:rPr lang="en-IN" sz="1800" dirty="0"/>
              <a:t> dashboard for uploading and verifying media authenticity.</a:t>
            </a:r>
          </a:p>
          <a:p>
            <a:r>
              <a:rPr lang="en-IN" sz="1800" dirty="0"/>
              <a:t>🔍 </a:t>
            </a:r>
            <a:r>
              <a:rPr lang="en-IN" sz="1800" b="1" dirty="0"/>
              <a:t>Phase 5 – Testing &amp; Optimization:</a:t>
            </a:r>
            <a:r>
              <a:rPr lang="en-IN" sz="1800" dirty="0"/>
              <a:t> End-to-end testing for accuracy, response time, and blockchain transaction efficiency.</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2400" dirty="0">
              <a:latin typeface="Comic Sans MS" panose="030F0702030302020204" pitchFamily="66" charset="0"/>
            </a:endParaRPr>
          </a:p>
        </p:txBody>
      </p:sp>
      <p:graphicFrame>
        <p:nvGraphicFramePr>
          <p:cNvPr id="11" name="Content Placeholder 10">
            <a:extLst>
              <a:ext uri="{FF2B5EF4-FFF2-40B4-BE49-F238E27FC236}">
                <a16:creationId xmlns:a16="http://schemas.microsoft.com/office/drawing/2014/main" id="{B32EC459-968F-6045-4AE7-EA58BF68DAD0}"/>
              </a:ext>
            </a:extLst>
          </p:cNvPr>
          <p:cNvGraphicFramePr>
            <a:graphicFrameLocks noGrp="1"/>
          </p:cNvGraphicFramePr>
          <p:nvPr>
            <p:ph sz="half" idx="2"/>
            <p:extLst>
              <p:ext uri="{D42A27DB-BD31-4B8C-83A1-F6EECF244321}">
                <p14:modId xmlns:p14="http://schemas.microsoft.com/office/powerpoint/2010/main" val="3296580644"/>
              </p:ext>
            </p:extLst>
          </p:nvPr>
        </p:nvGraphicFramePr>
        <p:xfrm>
          <a:off x="6172200" y="964884"/>
          <a:ext cx="5676900" cy="5212080"/>
        </p:xfrm>
        <a:graphic>
          <a:graphicData uri="http://schemas.openxmlformats.org/drawingml/2006/table">
            <a:tbl>
              <a:tblPr/>
              <a:tblGrid>
                <a:gridCol w="1255436">
                  <a:extLst>
                    <a:ext uri="{9D8B030D-6E8A-4147-A177-3AD203B41FA5}">
                      <a16:colId xmlns:a16="http://schemas.microsoft.com/office/drawing/2014/main" val="1421084754"/>
                    </a:ext>
                  </a:extLst>
                </a:gridCol>
                <a:gridCol w="2210732">
                  <a:extLst>
                    <a:ext uri="{9D8B030D-6E8A-4147-A177-3AD203B41FA5}">
                      <a16:colId xmlns:a16="http://schemas.microsoft.com/office/drawing/2014/main" val="4209007511"/>
                    </a:ext>
                  </a:extLst>
                </a:gridCol>
                <a:gridCol w="2210732">
                  <a:extLst>
                    <a:ext uri="{9D8B030D-6E8A-4147-A177-3AD203B41FA5}">
                      <a16:colId xmlns:a16="http://schemas.microsoft.com/office/drawing/2014/main" val="3558370382"/>
                    </a:ext>
                  </a:extLst>
                </a:gridCol>
              </a:tblGrid>
              <a:tr h="325187">
                <a:tc>
                  <a:txBody>
                    <a:bodyPr/>
                    <a:lstStyle/>
                    <a:p>
                      <a:pPr>
                        <a:buNone/>
                      </a:pPr>
                      <a:r>
                        <a:rPr lang="en-IN" b="1" dirty="0"/>
                        <a:t>Stage</a:t>
                      </a:r>
                      <a:endParaRPr lang="en-IN" dirty="0"/>
                    </a:p>
                  </a:txBody>
                  <a:tcPr anchor="ctr">
                    <a:lnL>
                      <a:noFill/>
                    </a:lnL>
                    <a:lnR>
                      <a:noFill/>
                    </a:lnR>
                    <a:lnT>
                      <a:noFill/>
                    </a:lnT>
                    <a:lnB>
                      <a:noFill/>
                    </a:lnB>
                    <a:noFill/>
                  </a:tcPr>
                </a:tc>
                <a:tc>
                  <a:txBody>
                    <a:bodyPr/>
                    <a:lstStyle/>
                    <a:p>
                      <a:pPr>
                        <a:buNone/>
                      </a:pPr>
                      <a:r>
                        <a:rPr lang="en-IN" b="1" dirty="0"/>
                        <a:t>Milestone / Goal</a:t>
                      </a:r>
                      <a:endParaRPr lang="en-IN" dirty="0"/>
                    </a:p>
                  </a:txBody>
                  <a:tcPr anchor="ctr">
                    <a:lnL>
                      <a:noFill/>
                    </a:lnL>
                    <a:lnR>
                      <a:noFill/>
                    </a:lnR>
                    <a:lnT>
                      <a:noFill/>
                    </a:lnT>
                    <a:lnB>
                      <a:noFill/>
                    </a:lnB>
                    <a:noFill/>
                  </a:tcPr>
                </a:tc>
                <a:tc>
                  <a:txBody>
                    <a:bodyPr/>
                    <a:lstStyle/>
                    <a:p>
                      <a:pPr>
                        <a:buNone/>
                      </a:pPr>
                      <a:r>
                        <a:rPr lang="en-IN" b="1"/>
                        <a:t>Expected Outcome</a:t>
                      </a:r>
                      <a:endParaRPr lang="en-IN"/>
                    </a:p>
                  </a:txBody>
                  <a:tcPr anchor="ctr">
                    <a:lnL>
                      <a:noFill/>
                    </a:lnL>
                    <a:lnR>
                      <a:noFill/>
                    </a:lnR>
                    <a:lnT>
                      <a:noFill/>
                    </a:lnT>
                    <a:lnB>
                      <a:noFill/>
                    </a:lnB>
                    <a:noFill/>
                  </a:tcPr>
                </a:tc>
                <a:extLst>
                  <a:ext uri="{0D108BD9-81ED-4DB2-BD59-A6C34878D82A}">
                    <a16:rowId xmlns:a16="http://schemas.microsoft.com/office/drawing/2014/main" val="283435846"/>
                  </a:ext>
                </a:extLst>
              </a:tr>
              <a:tr h="812968">
                <a:tc>
                  <a:txBody>
                    <a:bodyPr/>
                    <a:lstStyle/>
                    <a:p>
                      <a:pPr>
                        <a:buNone/>
                      </a:pPr>
                      <a:r>
                        <a:rPr lang="en-IN" b="1"/>
                        <a:t>Stage 1</a:t>
                      </a:r>
                      <a:endParaRPr lang="en-IN"/>
                    </a:p>
                  </a:txBody>
                  <a:tcPr anchor="ctr">
                    <a:lnL>
                      <a:noFill/>
                    </a:lnL>
                    <a:lnR>
                      <a:noFill/>
                    </a:lnR>
                    <a:lnT>
                      <a:noFill/>
                    </a:lnT>
                    <a:lnB>
                      <a:noFill/>
                    </a:lnB>
                    <a:noFill/>
                  </a:tcPr>
                </a:tc>
                <a:tc>
                  <a:txBody>
                    <a:bodyPr/>
                    <a:lstStyle/>
                    <a:p>
                      <a:pPr>
                        <a:buNone/>
                      </a:pPr>
                      <a:r>
                        <a:rPr lang="en-IN" dirty="0"/>
                        <a:t>System Architecture Design</a:t>
                      </a:r>
                    </a:p>
                  </a:txBody>
                  <a:tcPr anchor="ctr">
                    <a:lnL>
                      <a:noFill/>
                    </a:lnL>
                    <a:lnR>
                      <a:noFill/>
                    </a:lnR>
                    <a:lnT>
                      <a:noFill/>
                    </a:lnT>
                    <a:lnB>
                      <a:noFill/>
                    </a:lnB>
                    <a:noFill/>
                  </a:tcPr>
                </a:tc>
                <a:tc>
                  <a:txBody>
                    <a:bodyPr/>
                    <a:lstStyle/>
                    <a:p>
                      <a:pPr>
                        <a:buNone/>
                      </a:pPr>
                      <a:r>
                        <a:rPr lang="en-US"/>
                        <a:t>Clear framework for integrating AI and blockchain modules.</a:t>
                      </a:r>
                    </a:p>
                  </a:txBody>
                  <a:tcPr anchor="ctr">
                    <a:lnL>
                      <a:noFill/>
                    </a:lnL>
                    <a:lnR>
                      <a:noFill/>
                    </a:lnR>
                    <a:lnT>
                      <a:noFill/>
                    </a:lnT>
                    <a:lnB>
                      <a:noFill/>
                    </a:lnB>
                    <a:noFill/>
                  </a:tcPr>
                </a:tc>
                <a:extLst>
                  <a:ext uri="{0D108BD9-81ED-4DB2-BD59-A6C34878D82A}">
                    <a16:rowId xmlns:a16="http://schemas.microsoft.com/office/drawing/2014/main" val="672196513"/>
                  </a:ext>
                </a:extLst>
              </a:tr>
              <a:tr h="812968">
                <a:tc>
                  <a:txBody>
                    <a:bodyPr/>
                    <a:lstStyle/>
                    <a:p>
                      <a:pPr>
                        <a:buNone/>
                      </a:pPr>
                      <a:r>
                        <a:rPr lang="en-IN" b="1" dirty="0"/>
                        <a:t>Stage 2</a:t>
                      </a:r>
                      <a:endParaRPr lang="en-IN" dirty="0"/>
                    </a:p>
                  </a:txBody>
                  <a:tcPr anchor="ctr">
                    <a:lnL>
                      <a:noFill/>
                    </a:lnL>
                    <a:lnR>
                      <a:noFill/>
                    </a:lnR>
                    <a:lnT>
                      <a:noFill/>
                    </a:lnT>
                    <a:lnB>
                      <a:noFill/>
                    </a:lnB>
                    <a:noFill/>
                  </a:tcPr>
                </a:tc>
                <a:tc>
                  <a:txBody>
                    <a:bodyPr/>
                    <a:lstStyle/>
                    <a:p>
                      <a:pPr>
                        <a:buNone/>
                      </a:pPr>
                      <a:r>
                        <a:rPr lang="en-IN" dirty="0"/>
                        <a:t>AI Detection Model Training</a:t>
                      </a:r>
                    </a:p>
                  </a:txBody>
                  <a:tcPr anchor="ctr">
                    <a:lnL>
                      <a:noFill/>
                    </a:lnL>
                    <a:lnR>
                      <a:noFill/>
                    </a:lnR>
                    <a:lnT>
                      <a:noFill/>
                    </a:lnT>
                    <a:lnB>
                      <a:noFill/>
                    </a:lnB>
                    <a:noFill/>
                  </a:tcPr>
                </a:tc>
                <a:tc>
                  <a:txBody>
                    <a:bodyPr/>
                    <a:lstStyle/>
                    <a:p>
                      <a:pPr>
                        <a:buNone/>
                      </a:pPr>
                      <a:r>
                        <a:rPr lang="en-IN"/>
                        <a:t>Reliable identification of AI-generated media.</a:t>
                      </a:r>
                    </a:p>
                  </a:txBody>
                  <a:tcPr anchor="ctr">
                    <a:lnL>
                      <a:noFill/>
                    </a:lnL>
                    <a:lnR>
                      <a:noFill/>
                    </a:lnR>
                    <a:lnT>
                      <a:noFill/>
                    </a:lnT>
                    <a:lnB>
                      <a:noFill/>
                    </a:lnB>
                    <a:noFill/>
                  </a:tcPr>
                </a:tc>
                <a:extLst>
                  <a:ext uri="{0D108BD9-81ED-4DB2-BD59-A6C34878D82A}">
                    <a16:rowId xmlns:a16="http://schemas.microsoft.com/office/drawing/2014/main" val="3819560927"/>
                  </a:ext>
                </a:extLst>
              </a:tr>
              <a:tr h="812968">
                <a:tc>
                  <a:txBody>
                    <a:bodyPr/>
                    <a:lstStyle/>
                    <a:p>
                      <a:pPr>
                        <a:buNone/>
                      </a:pPr>
                      <a:r>
                        <a:rPr lang="en-IN" b="1"/>
                        <a:t>Stage 3</a:t>
                      </a:r>
                      <a:endParaRPr lang="en-IN"/>
                    </a:p>
                  </a:txBody>
                  <a:tcPr anchor="ctr">
                    <a:lnL>
                      <a:noFill/>
                    </a:lnL>
                    <a:lnR>
                      <a:noFill/>
                    </a:lnR>
                    <a:lnT>
                      <a:noFill/>
                    </a:lnT>
                    <a:lnB>
                      <a:noFill/>
                    </a:lnB>
                    <a:noFill/>
                  </a:tcPr>
                </a:tc>
                <a:tc>
                  <a:txBody>
                    <a:bodyPr/>
                    <a:lstStyle/>
                    <a:p>
                      <a:pPr>
                        <a:buNone/>
                      </a:pPr>
                      <a:r>
                        <a:rPr lang="en-IN" dirty="0"/>
                        <a:t>Blockchain &amp; Smart Contract Setup</a:t>
                      </a:r>
                    </a:p>
                  </a:txBody>
                  <a:tcPr anchor="ctr">
                    <a:lnL>
                      <a:noFill/>
                    </a:lnL>
                    <a:lnR>
                      <a:noFill/>
                    </a:lnR>
                    <a:lnT>
                      <a:noFill/>
                    </a:lnT>
                    <a:lnB>
                      <a:noFill/>
                    </a:lnB>
                    <a:noFill/>
                  </a:tcPr>
                </a:tc>
                <a:tc>
                  <a:txBody>
                    <a:bodyPr/>
                    <a:lstStyle/>
                    <a:p>
                      <a:pPr>
                        <a:buNone/>
                      </a:pPr>
                      <a:r>
                        <a:rPr lang="en-US"/>
                        <a:t>Secure, tamper-proof record creation and verification.</a:t>
                      </a:r>
                    </a:p>
                  </a:txBody>
                  <a:tcPr anchor="ctr">
                    <a:lnL>
                      <a:noFill/>
                    </a:lnL>
                    <a:lnR>
                      <a:noFill/>
                    </a:lnR>
                    <a:lnT>
                      <a:noFill/>
                    </a:lnT>
                    <a:lnB>
                      <a:noFill/>
                    </a:lnB>
                    <a:noFill/>
                  </a:tcPr>
                </a:tc>
                <a:extLst>
                  <a:ext uri="{0D108BD9-81ED-4DB2-BD59-A6C34878D82A}">
                    <a16:rowId xmlns:a16="http://schemas.microsoft.com/office/drawing/2014/main" val="1997666912"/>
                  </a:ext>
                </a:extLst>
              </a:tr>
              <a:tr h="812968">
                <a:tc>
                  <a:txBody>
                    <a:bodyPr/>
                    <a:lstStyle/>
                    <a:p>
                      <a:pPr>
                        <a:buNone/>
                      </a:pPr>
                      <a:r>
                        <a:rPr lang="en-IN" b="1"/>
                        <a:t>Stage 4</a:t>
                      </a:r>
                      <a:endParaRPr lang="en-IN"/>
                    </a:p>
                  </a:txBody>
                  <a:tcPr anchor="ctr">
                    <a:lnL>
                      <a:noFill/>
                    </a:lnL>
                    <a:lnR>
                      <a:noFill/>
                    </a:lnR>
                    <a:lnT>
                      <a:noFill/>
                    </a:lnT>
                    <a:lnB>
                      <a:noFill/>
                    </a:lnB>
                    <a:noFill/>
                  </a:tcPr>
                </a:tc>
                <a:tc>
                  <a:txBody>
                    <a:bodyPr/>
                    <a:lstStyle/>
                    <a:p>
                      <a:pPr>
                        <a:buNone/>
                      </a:pPr>
                      <a:r>
                        <a:rPr lang="en-IN"/>
                        <a:t>Frontend &amp; Backend Integration</a:t>
                      </a:r>
                    </a:p>
                  </a:txBody>
                  <a:tcPr anchor="ctr">
                    <a:lnL>
                      <a:noFill/>
                    </a:lnL>
                    <a:lnR>
                      <a:noFill/>
                    </a:lnR>
                    <a:lnT>
                      <a:noFill/>
                    </a:lnT>
                    <a:lnB>
                      <a:noFill/>
                    </a:lnB>
                    <a:noFill/>
                  </a:tcPr>
                </a:tc>
                <a:tc>
                  <a:txBody>
                    <a:bodyPr/>
                    <a:lstStyle/>
                    <a:p>
                      <a:pPr>
                        <a:buNone/>
                      </a:pPr>
                      <a:r>
                        <a:rPr lang="en-US"/>
                        <a:t>Functional user interface for real-time verification.</a:t>
                      </a:r>
                    </a:p>
                  </a:txBody>
                  <a:tcPr anchor="ctr">
                    <a:lnL>
                      <a:noFill/>
                    </a:lnL>
                    <a:lnR>
                      <a:noFill/>
                    </a:lnR>
                    <a:lnT>
                      <a:noFill/>
                    </a:lnT>
                    <a:lnB>
                      <a:noFill/>
                    </a:lnB>
                    <a:noFill/>
                  </a:tcPr>
                </a:tc>
                <a:extLst>
                  <a:ext uri="{0D108BD9-81ED-4DB2-BD59-A6C34878D82A}">
                    <a16:rowId xmlns:a16="http://schemas.microsoft.com/office/drawing/2014/main" val="907701538"/>
                  </a:ext>
                </a:extLst>
              </a:tr>
              <a:tr h="1056858">
                <a:tc>
                  <a:txBody>
                    <a:bodyPr/>
                    <a:lstStyle/>
                    <a:p>
                      <a:pPr>
                        <a:buNone/>
                      </a:pPr>
                      <a:r>
                        <a:rPr lang="en-IN" b="1" dirty="0"/>
                        <a:t>Stage 5</a:t>
                      </a:r>
                      <a:endParaRPr lang="en-IN" dirty="0"/>
                    </a:p>
                  </a:txBody>
                  <a:tcPr anchor="ctr">
                    <a:lnL>
                      <a:noFill/>
                    </a:lnL>
                    <a:lnR>
                      <a:noFill/>
                    </a:lnR>
                    <a:lnT>
                      <a:noFill/>
                    </a:lnT>
                    <a:lnB>
                      <a:noFill/>
                    </a:lnB>
                    <a:noFill/>
                  </a:tcPr>
                </a:tc>
                <a:tc>
                  <a:txBody>
                    <a:bodyPr/>
                    <a:lstStyle/>
                    <a:p>
                      <a:pPr>
                        <a:buNone/>
                      </a:pPr>
                      <a:r>
                        <a:rPr lang="en-IN"/>
                        <a:t>Testing &amp; Deployment</a:t>
                      </a:r>
                    </a:p>
                  </a:txBody>
                  <a:tcPr anchor="ctr">
                    <a:lnL>
                      <a:noFill/>
                    </a:lnL>
                    <a:lnR>
                      <a:noFill/>
                    </a:lnR>
                    <a:lnT>
                      <a:noFill/>
                    </a:lnT>
                    <a:lnB>
                      <a:noFill/>
                    </a:lnB>
                    <a:noFill/>
                  </a:tcPr>
                </a:tc>
                <a:tc>
                  <a:txBody>
                    <a:bodyPr/>
                    <a:lstStyle/>
                    <a:p>
                      <a:pPr>
                        <a:buNone/>
                      </a:pPr>
                      <a:r>
                        <a:rPr lang="en-US" dirty="0"/>
                        <a:t>Fully operational system ensuring authenticity and transparency.</a:t>
                      </a:r>
                    </a:p>
                  </a:txBody>
                  <a:tcPr anchor="ctr">
                    <a:lnL>
                      <a:noFill/>
                    </a:lnL>
                    <a:lnR>
                      <a:noFill/>
                    </a:lnR>
                    <a:lnT>
                      <a:noFill/>
                    </a:lnT>
                    <a:lnB>
                      <a:noFill/>
                    </a:lnB>
                    <a:noFill/>
                  </a:tcPr>
                </a:tc>
                <a:extLst>
                  <a:ext uri="{0D108BD9-81ED-4DB2-BD59-A6C34878D82A}">
                    <a16:rowId xmlns:a16="http://schemas.microsoft.com/office/drawing/2014/main" val="2539436060"/>
                  </a:ext>
                </a:extLst>
              </a:tr>
            </a:tbl>
          </a:graphicData>
        </a:graphic>
      </p:graphicFrame>
    </p:spTree>
    <p:extLst>
      <p:ext uri="{BB962C8B-B14F-4D97-AF65-F5344CB8AC3E}">
        <p14:creationId xmlns:p14="http://schemas.microsoft.com/office/powerpoint/2010/main" val="3627674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716437" y="259307"/>
            <a:ext cx="10699423" cy="6132615"/>
          </a:xfrm>
        </p:spPr>
        <p:txBody>
          <a:bodyPr>
            <a:normAutofit fontScale="92500" lnSpcReduction="10000"/>
          </a:bodyPr>
          <a:lstStyle/>
          <a:p>
            <a:pPr algn="l"/>
            <a:r>
              <a:rPr lang="en-IN" sz="2600" b="1" dirty="0">
                <a:latin typeface="Times New Roman" panose="02020603050405020304" pitchFamily="18" charset="0"/>
                <a:cs typeface="Times New Roman" panose="02020603050405020304" pitchFamily="18" charset="0"/>
              </a:rPr>
              <a:t>11. REFERENCES :</a:t>
            </a:r>
          </a:p>
          <a:p>
            <a:pPr algn="l"/>
            <a:endParaRPr lang="en-IN" b="1" dirty="0">
              <a:latin typeface="Times New Roman" panose="02020603050405020304" pitchFamily="18" charset="0"/>
              <a:cs typeface="Times New Roman" panose="02020603050405020304" pitchFamily="18" charset="0"/>
            </a:endParaRPr>
          </a:p>
          <a:p>
            <a:pPr algn="just"/>
            <a:r>
              <a:rPr lang="en-IN" sz="2200" dirty="0"/>
              <a:t>1. A. Heidari, N. J. </a:t>
            </a:r>
            <a:r>
              <a:rPr lang="en-IN" sz="2200" dirty="0" err="1"/>
              <a:t>Navimipour</a:t>
            </a:r>
            <a:r>
              <a:rPr lang="en-IN" sz="2200" dirty="0"/>
              <a:t>, H. Dag, et al., “A Novel Blockchain-Based Deepfake Detection Method Using Federated and Deep Learning Models,” </a:t>
            </a:r>
            <a:r>
              <a:rPr lang="en-IN" sz="2200" i="1" dirty="0"/>
              <a:t>Cognitive Computation</a:t>
            </a:r>
            <a:r>
              <a:rPr lang="en-IN" sz="2200" dirty="0"/>
              <a:t>, vol. 16, pp. 1073-1091, May 2024. </a:t>
            </a:r>
            <a:r>
              <a:rPr lang="en-IN" sz="2200" dirty="0">
                <a:hlinkClick r:id="rId2"/>
              </a:rPr>
              <a:t>SpringerLink</a:t>
            </a:r>
            <a:endParaRPr lang="en-IN" sz="2200" dirty="0"/>
          </a:p>
          <a:p>
            <a:pPr algn="just"/>
            <a:r>
              <a:rPr lang="en-IN" sz="2200" dirty="0"/>
              <a:t>2. B. M. Beena and A. Prathap Ishwar, “Blockchain Based Deep Fake Detection and Verification,” </a:t>
            </a:r>
            <a:r>
              <a:rPr lang="en-IN" sz="2200" i="1" dirty="0"/>
              <a:t>Journal of Electrical Systems</a:t>
            </a:r>
            <a:r>
              <a:rPr lang="en-IN" sz="2200" dirty="0"/>
              <a:t>, vol. 21, no. 1s, 2025. </a:t>
            </a:r>
            <a:r>
              <a:rPr lang="en-IN" sz="2200" dirty="0">
                <a:hlinkClick r:id="rId3"/>
              </a:rPr>
              <a:t>journal.esrgroups.org</a:t>
            </a:r>
            <a:endParaRPr lang="en-IN" sz="2200" dirty="0"/>
          </a:p>
          <a:p>
            <a:pPr algn="just"/>
            <a:r>
              <a:rPr lang="en-IN" sz="2200" dirty="0"/>
              <a:t>3. Z. Akhtar, “Deepfakes Generation and Detection: A Short Survey,” </a:t>
            </a:r>
            <a:r>
              <a:rPr lang="en-IN" sz="2200" i="1" dirty="0"/>
              <a:t>Journal of Imaging</a:t>
            </a:r>
            <a:r>
              <a:rPr lang="en-IN" sz="2200" dirty="0"/>
              <a:t>, vol. 9, no. 1, p. 18, 2023. </a:t>
            </a:r>
            <a:r>
              <a:rPr lang="en-IN" sz="2200" dirty="0">
                <a:hlinkClick r:id="rId4"/>
              </a:rPr>
              <a:t>MDPI</a:t>
            </a:r>
            <a:endParaRPr lang="en-IN" sz="2200" dirty="0"/>
          </a:p>
          <a:p>
            <a:pPr algn="just"/>
            <a:r>
              <a:rPr lang="en-IN" sz="2200" dirty="0"/>
              <a:t>4. “DDS: Deepfake Detection System through Collective Intelligence and Deep‐Learning Model in Blockchain Environment,” </a:t>
            </a:r>
            <a:r>
              <a:rPr lang="en-IN" sz="2200" i="1" dirty="0"/>
              <a:t>Applied Sciences</a:t>
            </a:r>
            <a:r>
              <a:rPr lang="en-IN" sz="2200" dirty="0"/>
              <a:t>, vol. 13, no. 4, p. 2122, 2023. </a:t>
            </a:r>
            <a:r>
              <a:rPr lang="en-IN" sz="2200" dirty="0">
                <a:hlinkClick r:id="rId5"/>
              </a:rPr>
              <a:t>MDPI</a:t>
            </a:r>
            <a:endParaRPr lang="en-IN" sz="2200" dirty="0"/>
          </a:p>
          <a:p>
            <a:pPr algn="just"/>
            <a:r>
              <a:rPr lang="en-IN" sz="2200" dirty="0"/>
              <a:t>5. “A Survey on Deepfake Detection Technologies,” </a:t>
            </a:r>
            <a:r>
              <a:rPr lang="en-IN" sz="2200" i="1" dirty="0"/>
              <a:t>International Journal of Emerging Technologies &amp; Advanced Applications (IJETAA)</a:t>
            </a:r>
            <a:r>
              <a:rPr lang="en-IN" sz="2200" dirty="0"/>
              <a:t>, 2024. </a:t>
            </a:r>
            <a:r>
              <a:rPr lang="en-IN" sz="2200" dirty="0">
                <a:hlinkClick r:id="rId6"/>
              </a:rPr>
              <a:t>ijetaa.com</a:t>
            </a:r>
            <a:endParaRPr lang="en-IN" sz="2200" dirty="0"/>
          </a:p>
          <a:p>
            <a:pPr algn="just"/>
            <a:r>
              <a:rPr lang="en-IN" sz="2200" dirty="0"/>
              <a:t>6. “Decentralized Deepfake Detection Blockchain Network using Dynamic Algorithm management,” </a:t>
            </a:r>
            <a:r>
              <a:rPr lang="en-IN" sz="2200" dirty="0" err="1"/>
              <a:t>arXiv</a:t>
            </a:r>
            <a:r>
              <a:rPr lang="en-IN" sz="2200" dirty="0"/>
              <a:t> preprint arXiv:2311.18545, Nov 2023. </a:t>
            </a:r>
            <a:r>
              <a:rPr lang="en-IN" sz="2200" dirty="0">
                <a:hlinkClick r:id="rId7"/>
              </a:rPr>
              <a:t>dipankar.cc</a:t>
            </a:r>
            <a:endParaRPr lang="en-IN" sz="2200" dirty="0"/>
          </a:p>
          <a:p>
            <a:pPr algn="just"/>
            <a:r>
              <a:rPr lang="en-IN" sz="2200" dirty="0"/>
              <a:t>7. “C2PA Explainer :: C2PA Specifications,” Coalition for Content Provenance &amp; Authenticity (C2PA), 2024. </a:t>
            </a:r>
            <a:r>
              <a:rPr lang="en-IN" sz="2200" dirty="0">
                <a:hlinkClick r:id="rId8"/>
              </a:rPr>
              <a:t>c2pa.org</a:t>
            </a:r>
            <a:endParaRPr lang="en-IN" sz="2200" dirty="0"/>
          </a:p>
          <a:p>
            <a:pPr algn="just"/>
            <a:r>
              <a:rPr lang="en-IN" sz="2200" dirty="0"/>
              <a:t>8. “Fighting Misinformation with Authenticated C2PA Provenance Metadata,” NAB PILOT Conference Proceedings, Apr. 2023. </a:t>
            </a:r>
            <a:r>
              <a:rPr lang="en-IN" sz="2200" dirty="0">
                <a:hlinkClick r:id="rId9"/>
              </a:rPr>
              <a:t>nabpilot.org</a:t>
            </a:r>
            <a:endParaRPr lang="en-IN" sz="2200" dirty="0"/>
          </a:p>
          <a:p>
            <a:pPr algn="just"/>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4195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470</TotalTime>
  <Words>2032</Words>
  <Application>Microsoft Office PowerPoint</Application>
  <PresentationFormat>Widescreen</PresentationFormat>
  <Paragraphs>199</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Comic Sans MS</vt:lpstr>
      <vt:lpstr>Sitka Display Semibold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   5. PROPOSED SYSTEM  :  Description of Proposed System :  The proposed system integrates Blockchain technology with Artificial Intelligence to ensure authenticity and traceability of digital media. When any image, video, or audio is created, its unique hash and metadata (creator info, timestamp, etc.) are securely stored on the Blockchain, providing an immutable record of origin. The AI detection model then analyzes the content to identify any manipulation or deepfake characteristics. Finally, the verification engine compares the blockchain record with AI results to confirm whether the media is authentic, altered, or AI-generated, ensuring transparency and trust in digital media.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MOOLCHAND SHARMA</dc:creator>
  <cp:lastModifiedBy>busi jitya</cp:lastModifiedBy>
  <cp:revision>59</cp:revision>
  <dcterms:created xsi:type="dcterms:W3CDTF">2021-02-05T14:09:33Z</dcterms:created>
  <dcterms:modified xsi:type="dcterms:W3CDTF">2025-11-02T18:54:04Z</dcterms:modified>
</cp:coreProperties>
</file>